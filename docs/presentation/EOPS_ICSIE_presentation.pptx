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1acd723-5e2c-1be9-02ef-c15eb5d075f1}">
          <p14:sldIdLst>
            <p14:sldId id="256"/>
            <p14:sldId id="257"/>
            <p14:sldId id="258"/>
          </p14:sldIdLst>
        </p14:section>
        <p14:section name="Approach" id="{15613937-c0d7-d9ef-f653-4942a2bf5295}">
          <p14:sldIdLst>
            <p14:sldId id="259"/>
            <p14:sldId id="260"/>
            <p14:sldId id="261"/>
          </p14:sldIdLst>
        </p14:section>
        <p14:section name="Evidence" id="{4c3d7995-2704-aef1-ff24-079156e5c3f7}">
          <p14:sldIdLst>
            <p14:sldId id="262"/>
            <p14:sldId id="263"/>
            <p14:sldId id="264"/>
          </p14:sldIdLst>
        </p14:section>
        <p14:section name="Closing" id="{ac237cb0-e0bf-c949-e009-be1e0a6180d1}">
          <p14:sldIdLst>
            <p14:sldId id="265"/>
          </p14:sldIdLst>
        </p14:section>
        <p14:section name="Backup" id="{8b0c8218-4d78-2cf1-7e62-be8852a238e2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F2A"/>
                </a:solidFill>
                <a:latin typeface="+mn-lt"/>
              </a:rPr>
              <a:t>One desk, eight tool calls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characters resent per desk</c:v>
                </c:pt>
              </c:strCache>
            </c:strRef>
          </c:tx>
          <c:spPr>
            <a:solidFill>
              <a:srgbClr val="5A6B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B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Without compaction</c:v>
                  </c:pt>
                  <c:pt idx="1">
                    <c:v>With compaction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288000</c:v>
                </c:pt>
                <c:pt idx="1">
                  <c:v>175500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00"/>
          <c:min val="0"/>
        </c:scaling>
        <c:delete val="0"/>
        <c:axPos val="l"/>
        <c:majorGridlines>
          <c:spPr>
            <a:ln w="9525" cap="flat">
              <a:solidFill>
                <a:srgbClr val="E6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8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Sanjay. I will present EOPS, a multi-agent platform for incident investigation. The paper contributes the architecture; the system is implemented and our evaluation protocol is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this number: 52.5 hours median time to mitigate, from a year of Microsoft production incidents. Most of that is not fixing — it is finding. The engineer opens six tabs and correlates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buckets of prior work. Code agents fix code but never see the live system. One-shot RCA — Ahmed and RCACopilot — is provider-side, inside Microsoft's own telemetry, with a handler written per alert type. Chat assistants hold no tools. The gap is coordinated, multi-source, customer-side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agent per system area, not one agent per task. The supervisor may only assign desks that actually have a connected tool. Desks run concurrently and write into one shared state. The RCA agent reads only that evidence. Nothing is written to the customer's systems without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contribution I most want you to remember. Four mechanisms. The literature says tool grounding cuts hallucination from about half to under one in ten; we enforce it in the harness rather than hoping the model behaves.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Engineering Memory Layer. Markdown documentation is chunked, embedded into Chroma, and retrieved with a hybrid of dense vectors and BM25 fused by reciprocal rank fusion. The knowledge desk cites documents exactly like any other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exists. Nine agent roles, three connectors live, 229 automated tests, and a pilot investigation that ran end to end in about seven and a half minutes. I am careful here: that is an engineering observation, not an evaluation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metric families. Note the second one: unsupported-claim rate is directly comparable with Roy's published numbers. And ablations — multi-agent versus single agent, with and without retrieval, with and without citation enforcement — isolate the architecture rather than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here. We do not claim fewer total tokens than one giant prompt — that would be false. We claim a 39 percent reduction against the same architecture without compaction, bounded context per step, and parallel wall-clock.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one-sentence takeaway, then invite questions. If you overran, skip straight to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if asked what is new. The honest single answer: every prior system is provider-side; EOPS is customer-side and tool-agnostic with enforced 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Memorise these four. They show you know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algorithm: name these six. The novelty is a coordination and verification protocol, not a new learning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question answer. Four layers, and the key point: read-only by construction means an injection has nothing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both the scalability question and the novelty question: capability-to-desk routing is what makes the system tool-agnostic.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607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6070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5D4DD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5"/>
                </a:solidFill>
              </a:rPr>
              <a:t>EOPS — Multi-Agent Incident Investigation · ICSIE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EOPS: A Multi-Agent AI Engineering Operations Platform for Automated Incident Investigation and Root Cause Analysis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Ms D. Hemamalini · Sanjay P C · Sam Benadick J · Praveenkumar S · Nibuna 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5D4DD"/>
                </a:solidFill>
              </a:rPr>
              <a:t>Department of Artificial Intelligence &amp; Data Science, Sri Eshwar College of Engineering, Coimbatore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C5D4DD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</a:rPr>
              <a:t>ICSIE 2026 · Paper presentation (8 min)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Finding the cause takes far longer than fixing it</a:t>
            </a:r>
            <a:endParaRPr lang="en-US" sz="2600" dirty="0"/>
          </a:p>
        </p:txBody>
      </p:sp>
      <p:sp>
        <p:nvSpPr>
          <p:cNvPr id="3" name="statCard"/>
          <p:cNvSpPr/>
          <p:nvPr/>
        </p:nvSpPr>
        <p:spPr>
          <a:xfrm>
            <a:off x="548640" y="137160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0F3D5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52.5 h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4DD"/>
                </a:solidFill>
              </a:rPr>
              <a:t>median time to mitigate a production 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D4DD"/>
                </a:solidFill>
              </a:rPr>
              <a:t>(one year of incidents, Microsoft, 2025)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371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single investigation spans six disconnected systems</a:t>
            </a:r>
            <a:endParaRPr lang="en-US" sz="1500" dirty="0"/>
          </a:p>
        </p:txBody>
      </p:sp>
      <p:sp>
        <p:nvSpPr>
          <p:cNvPr id="7" name="src0"/>
          <p:cNvSpPr/>
          <p:nvPr/>
        </p:nvSpPr>
        <p:spPr>
          <a:xfrm>
            <a:off x="4846320" y="191109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30368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Source code  </a:t>
            </a:r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which commit changed what</a:t>
            </a:r>
            <a:endParaRPr lang="en-US" sz="1150" dirty="0"/>
          </a:p>
        </p:txBody>
      </p:sp>
      <p:sp>
        <p:nvSpPr>
          <p:cNvPr id="10" name="src1"/>
          <p:cNvSpPr/>
          <p:nvPr/>
        </p:nvSpPr>
        <p:spPr>
          <a:xfrm>
            <a:off x="8275320" y="191109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59368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Deploy &amp; hosting  </a:t>
            </a:r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what shipped, when, did it fail</a:t>
            </a:r>
            <a:endParaRPr lang="en-US" sz="1150" dirty="0"/>
          </a:p>
        </p:txBody>
      </p:sp>
      <p:sp>
        <p:nvSpPr>
          <p:cNvPr id="13" name="src2"/>
          <p:cNvSpPr/>
          <p:nvPr/>
        </p:nvSpPr>
        <p:spPr>
          <a:xfrm>
            <a:off x="4846320" y="268833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Database  </a:t>
            </a:r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schema, slow queries, advisors</a:t>
            </a:r>
            <a:endParaRPr lang="en-US" sz="1150" dirty="0"/>
          </a:p>
        </p:txBody>
      </p:sp>
      <p:sp>
        <p:nvSpPr>
          <p:cNvPr id="16" name="src3"/>
          <p:cNvSpPr/>
          <p:nvPr/>
        </p:nvSpPr>
        <p:spPr>
          <a:xfrm>
            <a:off x="8275320" y="268833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59368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Logs &amp; errors  </a:t>
            </a:r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what the system reported</a:t>
            </a:r>
            <a:endParaRPr lang="en-US" sz="1150" dirty="0"/>
          </a:p>
        </p:txBody>
      </p:sp>
      <p:sp>
        <p:nvSpPr>
          <p:cNvPr id="19" name="src4"/>
          <p:cNvSpPr/>
          <p:nvPr/>
        </p:nvSpPr>
        <p:spPr>
          <a:xfrm>
            <a:off x="4846320" y="346557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Runbooks &amp; docs  </a:t>
            </a:r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what the team already knows</a:t>
            </a:r>
            <a:endParaRPr lang="en-US" sz="1150" dirty="0"/>
          </a:p>
        </p:txBody>
      </p:sp>
      <p:sp>
        <p:nvSpPr>
          <p:cNvPr id="22" name="src5"/>
          <p:cNvSpPr/>
          <p:nvPr/>
        </p:nvSpPr>
        <p:spPr>
          <a:xfrm>
            <a:off x="8275320" y="346557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75320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59368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Chat history  </a:t>
            </a:r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what a colleague saw last week</a:t>
            </a:r>
            <a:endParaRPr lang="en-US" sz="1150" dirty="0"/>
          </a:p>
        </p:txBody>
      </p:sp>
      <p:sp>
        <p:nvSpPr>
          <p:cNvPr id="25" name="painCard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BF1E0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526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cost is not the fix.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Engineers switch tools, hold partial evidence in their heads, and depend on whoever remembers the system best. Diagnostic quality varies with who is on call.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Existing AI helps with one source at a time, not with the investigation</a:t>
            </a:r>
            <a:endParaRPr lang="en-US" sz="2600" dirty="0"/>
          </a:p>
        </p:txBody>
      </p:sp>
      <p:sp>
        <p:nvSpPr>
          <p:cNvPr id="3" name="prior0"/>
          <p:cNvSpPr/>
          <p:nvPr/>
        </p:nvSpPr>
        <p:spPr>
          <a:xfrm>
            <a:off x="548640" y="1371600"/>
            <a:ext cx="3474720" cy="3154680"/>
          </a:xfrm>
          <a:prstGeom prst="roundRect">
            <a:avLst>
              <a:gd name="adj" fmla="val 2319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Code agents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5"/>
                </a:solidFill>
              </a:rPr>
              <a:t>SWE-agent, SWE-bench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677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Edit repositories and resolve issues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</a:rPr>
              <a:t>Gap: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live system, no incident context</a:t>
            </a:r>
            <a:endParaRPr lang="en-US" sz="1200" dirty="0"/>
          </a:p>
        </p:txBody>
      </p:sp>
      <p:sp>
        <p:nvSpPr>
          <p:cNvPr id="8" name="prior1"/>
          <p:cNvSpPr/>
          <p:nvPr/>
        </p:nvSpPr>
        <p:spPr>
          <a:xfrm>
            <a:off x="4270248" y="1371600"/>
            <a:ext cx="3474720" cy="3154680"/>
          </a:xfrm>
          <a:prstGeom prst="roundRect">
            <a:avLst>
              <a:gd name="adj" fmla="val 2319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8848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One-shot LLM RCA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5"/>
                </a:solidFill>
              </a:rPr>
              <a:t>Ahmed ICSE'23 · RCACopilot EuroSys'24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2677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Predict a root-cause category from collected telemetry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</a:rPr>
              <a:t>Gap: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Provider-side; a handler per alert type</a:t>
            </a:r>
            <a:endParaRPr lang="en-US" sz="1200" dirty="0"/>
          </a:p>
        </p:txBody>
      </p:sp>
      <p:sp>
        <p:nvSpPr>
          <p:cNvPr id="13" name="prior2"/>
          <p:cNvSpPr/>
          <p:nvPr/>
        </p:nvSpPr>
        <p:spPr>
          <a:xfrm>
            <a:off x="7991856" y="1371600"/>
            <a:ext cx="3474720" cy="3154680"/>
          </a:xfrm>
          <a:prstGeom prst="roundRect">
            <a:avLst>
              <a:gd name="adj" fmla="val 2319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0456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Chat assistants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0456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5"/>
                </a:solidFill>
              </a:rPr>
              <a:t>General copilots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0456" y="22677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Answer questions about systems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0456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</a:rPr>
              <a:t>Gap: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Hold no tools, gather no evidence</a:t>
            </a:r>
            <a:endParaRPr lang="en-US" sz="1200" dirty="0"/>
          </a:p>
        </p:txBody>
      </p:sp>
      <p:sp>
        <p:nvSpPr>
          <p:cNvPr id="18" name="gapCard"/>
          <p:cNvSpPr/>
          <p:nvPr/>
        </p:nvSpPr>
        <p:spPr>
          <a:xfrm>
            <a:off x="548640" y="4800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F3D5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1E"/>
                </a:solidFill>
              </a:rPr>
              <a:t>Open problem: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no system investigates a customer's own heterogeneous stack with several specialised agents working in parallel on one shared body of evidence.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 supervisor splits one incident across desks that work in parallel</a:t>
            </a:r>
            <a:endParaRPr lang="en-US" sz="2600" dirty="0"/>
          </a:p>
        </p:txBody>
      </p:sp>
      <p:sp>
        <p:nvSpPr>
          <p:cNvPr id="3" name="incident"/>
          <p:cNvSpPr/>
          <p:nvPr/>
        </p:nvSpPr>
        <p:spPr>
          <a:xfrm>
            <a:off x="548640" y="1508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described in chat</a:t>
            </a:r>
            <a:endParaRPr lang="en-US" sz="1200" dirty="0"/>
          </a:p>
        </p:txBody>
      </p:sp>
      <p:sp>
        <p:nvSpPr>
          <p:cNvPr id="5" name="supervisor"/>
          <p:cNvSpPr/>
          <p:nvPr/>
        </p:nvSpPr>
        <p:spPr>
          <a:xfrm>
            <a:off x="2834640" y="1508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0F3D5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plans the work</a:t>
            </a:r>
            <a:endParaRPr lang="en-US" sz="1200" dirty="0"/>
          </a:p>
        </p:txBody>
      </p:sp>
      <p:sp>
        <p:nvSpPr>
          <p:cNvPr id="7" name="desk0"/>
          <p:cNvSpPr/>
          <p:nvPr/>
        </p:nvSpPr>
        <p:spPr>
          <a:xfrm>
            <a:off x="548640" y="2834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3EDF2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Code</a:t>
            </a:r>
            <a:endParaRPr lang="en-US" sz="1150" dirty="0"/>
          </a:p>
        </p:txBody>
      </p:sp>
      <p:sp>
        <p:nvSpPr>
          <p:cNvPr id="9" name="desk1"/>
          <p:cNvSpPr/>
          <p:nvPr/>
        </p:nvSpPr>
        <p:spPr>
          <a:xfrm>
            <a:off x="2450592" y="2834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3EDF2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50592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Frontend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Hosting</a:t>
            </a:r>
            <a:endParaRPr lang="en-US" sz="1150" dirty="0"/>
          </a:p>
        </p:txBody>
      </p:sp>
      <p:sp>
        <p:nvSpPr>
          <p:cNvPr id="11" name="desk2"/>
          <p:cNvSpPr/>
          <p:nvPr/>
        </p:nvSpPr>
        <p:spPr>
          <a:xfrm>
            <a:off x="4352544" y="2834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3EDF2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52544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Backend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Services</a:t>
            </a:r>
            <a:endParaRPr lang="en-US" sz="1150" dirty="0"/>
          </a:p>
        </p:txBody>
      </p:sp>
      <p:sp>
        <p:nvSpPr>
          <p:cNvPr id="13" name="desk3"/>
          <p:cNvSpPr/>
          <p:nvPr/>
        </p:nvSpPr>
        <p:spPr>
          <a:xfrm>
            <a:off x="6254496" y="2834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3EDF2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4496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Database</a:t>
            </a:r>
            <a:endParaRPr lang="en-US" sz="1150" dirty="0"/>
          </a:p>
        </p:txBody>
      </p:sp>
      <p:sp>
        <p:nvSpPr>
          <p:cNvPr id="15" name="desk4"/>
          <p:cNvSpPr/>
          <p:nvPr/>
        </p:nvSpPr>
        <p:spPr>
          <a:xfrm>
            <a:off x="8156448" y="2834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3EDF2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56448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Observability</a:t>
            </a:r>
            <a:endParaRPr lang="en-US" sz="1150" dirty="0"/>
          </a:p>
        </p:txBody>
      </p:sp>
      <p:sp>
        <p:nvSpPr>
          <p:cNvPr id="17" name="desk5"/>
          <p:cNvSpPr/>
          <p:nvPr/>
        </p:nvSpPr>
        <p:spPr>
          <a:xfrm>
            <a:off x="10058400" y="2834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3EDF2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0" y="2834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56"/>
                </a:solidFill>
              </a:rPr>
              <a:t>Knowledge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67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5"/>
                </a:solidFill>
              </a:rPr>
              <a:t>run concurrently · each holds only its own read tools · may ask another desk one precise question</a:t>
            </a:r>
            <a:endParaRPr lang="en-US" sz="1100" dirty="0"/>
          </a:p>
        </p:txBody>
      </p:sp>
      <p:sp>
        <p:nvSpPr>
          <p:cNvPr id="20" name="state"/>
          <p:cNvSpPr/>
          <p:nvPr/>
        </p:nvSpPr>
        <p:spPr>
          <a:xfrm>
            <a:off x="548640" y="41605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BF1E0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605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Shared investigation state — every finding carries the tool call that produced it</a:t>
            </a:r>
            <a:endParaRPr lang="en-US" sz="1300" dirty="0"/>
          </a:p>
        </p:txBody>
      </p:sp>
      <p:sp>
        <p:nvSpPr>
          <p:cNvPr id="22" name="rca"/>
          <p:cNvSpPr/>
          <p:nvPr/>
        </p:nvSpPr>
        <p:spPr>
          <a:xfrm>
            <a:off x="2103120" y="49377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4937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RCA agent — root cause, failure point, confidence</a:t>
            </a:r>
            <a:endParaRPr lang="en-US" sz="1200" dirty="0"/>
          </a:p>
        </p:txBody>
      </p:sp>
      <p:sp>
        <p:nvSpPr>
          <p:cNvPr id="24" name="human"/>
          <p:cNvSpPr/>
          <p:nvPr/>
        </p:nvSpPr>
        <p:spPr>
          <a:xfrm>
            <a:off x="6309360" y="49377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2E7D5B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937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 approves before any write happens</a:t>
            </a:r>
            <a:endParaRPr lang="en-US" sz="1200" dirty="0"/>
          </a:p>
        </p:txBody>
      </p:sp>
      <p:sp>
        <p:nvSpPr>
          <p:cNvPr id="26" name="arrow0"/>
          <p:cNvSpPr/>
          <p:nvPr/>
        </p:nvSpPr>
        <p:spPr>
          <a:xfrm>
            <a:off x="2514600" y="1938528"/>
            <a:ext cx="320040" cy="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/>
          </a:ln>
        </p:spPr>
      </p:sp>
      <p:sp>
        <p:nvSpPr>
          <p:cNvPr id="27" name="arrow1"/>
          <p:cNvSpPr/>
          <p:nvPr/>
        </p:nvSpPr>
        <p:spPr>
          <a:xfrm>
            <a:off x="3822192" y="2377440"/>
            <a:ext cx="0" cy="45720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/>
          </a:ln>
        </p:spPr>
      </p:sp>
      <p:sp>
        <p:nvSpPr>
          <p:cNvPr id="28" name="arrow2"/>
          <p:cNvSpPr/>
          <p:nvPr/>
        </p:nvSpPr>
        <p:spPr>
          <a:xfrm>
            <a:off x="5806440" y="5321808"/>
            <a:ext cx="502920" cy="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The harness, not the model, is what makes the answers trustworthy</a:t>
            </a:r>
            <a:endParaRPr lang="en-US" sz="2600" dirty="0"/>
          </a:p>
        </p:txBody>
      </p:sp>
      <p:sp>
        <p:nvSpPr>
          <p:cNvPr id="3" name="mech0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mechDot0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Evidence or silence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933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finding is rejected by the harness unless it cites a tool call that really succeeded. The RCA may cite only evidence that exists.</a:t>
            </a:r>
            <a:endParaRPr lang="en-US" sz="1250" dirty="0"/>
          </a:p>
        </p:txBody>
      </p:sp>
      <p:sp>
        <p:nvSpPr>
          <p:cNvPr id="8" name="mech1"/>
          <p:cNvSpPr/>
          <p:nvPr/>
        </p:nvSpPr>
        <p:spPr>
          <a:xfrm>
            <a:off x="6217920" y="13716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9" name="mechDot1"/>
          <p:cNvSpPr/>
          <p:nvPr/>
        </p:nvSpPr>
        <p:spPr>
          <a:xfrm>
            <a:off x="6492240" y="16276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Read-only by construction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9933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Investigating desks hold read tools only. A write tool needs an opted-in connection, the Action desk, and human approval.</a:t>
            </a:r>
            <a:endParaRPr lang="en-US" sz="1250" dirty="0"/>
          </a:p>
        </p:txBody>
      </p:sp>
      <p:sp>
        <p:nvSpPr>
          <p:cNvPr id="13" name="mech2"/>
          <p:cNvSpPr/>
          <p:nvPr/>
        </p:nvSpPr>
        <p:spPr>
          <a:xfrm>
            <a:off x="548640" y="34290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4" name="mechDot2"/>
          <p:cNvSpPr/>
          <p:nvPr/>
        </p:nvSpPr>
        <p:spPr>
          <a:xfrm>
            <a:off x="822960" y="36850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Bounded budgets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0507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8 tool calls and 300 s per desk, 30 min per run. On exhaustion the desk is forced to report what it has, never to hang.</a:t>
            </a:r>
            <a:endParaRPr lang="en-US" sz="1250" dirty="0"/>
          </a:p>
        </p:txBody>
      </p:sp>
      <p:sp>
        <p:nvSpPr>
          <p:cNvPr id="18" name="mech3"/>
          <p:cNvSpPr/>
          <p:nvPr/>
        </p:nvSpPr>
        <p:spPr>
          <a:xfrm>
            <a:off x="6217920" y="34290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9" name="mechDot3"/>
          <p:cNvSpPr/>
          <p:nvPr/>
        </p:nvSpPr>
        <p:spPr>
          <a:xfrm>
            <a:off x="6492240" y="36850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Calibrated by code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40507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Confidence is capped outside the model: no evidence ≤ 0.2, a single source type ≤ 0.6, any contradiction −0.1.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6"/>
                </a:solidFill>
              </a:rPr>
              <a:t>Roy et al. (FSE 2024) measured hallucination at 49% for retrieval baselines and 6% for a tool-grounded agent — EOPS makes that grounding structural, not hopeful.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Team documentation becomes evidence the agents can cite</a:t>
            </a:r>
            <a:endParaRPr lang="en-US" sz="2600" dirty="0"/>
          </a:p>
        </p:txBody>
      </p:sp>
      <p:sp>
        <p:nvSpPr>
          <p:cNvPr id="3" name="mem0"/>
          <p:cNvSpPr/>
          <p:nvPr/>
        </p:nvSpPr>
        <p:spPr>
          <a:xfrm>
            <a:off x="548640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memDot0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Markdown runbooks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786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architecture notes, postmortems, guides</a:t>
            </a:r>
            <a:endParaRPr lang="en-US" sz="1150" dirty="0"/>
          </a:p>
        </p:txBody>
      </p:sp>
      <p:sp>
        <p:nvSpPr>
          <p:cNvPr id="8" name="memArrow0"/>
          <p:cNvSpPr/>
          <p:nvPr/>
        </p:nvSpPr>
        <p:spPr>
          <a:xfrm>
            <a:off x="3200400" y="2377440"/>
            <a:ext cx="182880" cy="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/>
          </a:ln>
        </p:spPr>
      </p:sp>
      <p:sp>
        <p:nvSpPr>
          <p:cNvPr id="9" name="mem1"/>
          <p:cNvSpPr/>
          <p:nvPr/>
        </p:nvSpPr>
        <p:spPr>
          <a:xfrm>
            <a:off x="3419856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0" name="memDot1"/>
          <p:cNvSpPr/>
          <p:nvPr/>
        </p:nvSpPr>
        <p:spPr>
          <a:xfrm>
            <a:off x="3648456" y="1691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8456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48456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Chunk &amp; embed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25786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offline preprocessing into Chroma</a:t>
            </a:r>
            <a:endParaRPr lang="en-US" sz="1150" dirty="0"/>
          </a:p>
        </p:txBody>
      </p:sp>
      <p:sp>
        <p:nvSpPr>
          <p:cNvPr id="14" name="memArrow1"/>
          <p:cNvSpPr/>
          <p:nvPr/>
        </p:nvSpPr>
        <p:spPr>
          <a:xfrm>
            <a:off x="6071616" y="2377440"/>
            <a:ext cx="182880" cy="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/>
          </a:ln>
        </p:spPr>
      </p:sp>
      <p:sp>
        <p:nvSpPr>
          <p:cNvPr id="15" name="mem2"/>
          <p:cNvSpPr/>
          <p:nvPr/>
        </p:nvSpPr>
        <p:spPr>
          <a:xfrm>
            <a:off x="6291072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6" name="memDot2"/>
          <p:cNvSpPr/>
          <p:nvPr/>
        </p:nvSpPr>
        <p:spPr>
          <a:xfrm>
            <a:off x="6519672" y="1691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67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Hybrid retrieval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5786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dense vectors + BM25, fused by RRF</a:t>
            </a:r>
            <a:endParaRPr lang="en-US" sz="1150" dirty="0"/>
          </a:p>
        </p:txBody>
      </p:sp>
      <p:sp>
        <p:nvSpPr>
          <p:cNvPr id="20" name="memArrow2"/>
          <p:cNvSpPr/>
          <p:nvPr/>
        </p:nvSpPr>
        <p:spPr>
          <a:xfrm>
            <a:off x="8942832" y="2377440"/>
            <a:ext cx="182880" cy="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/>
          </a:ln>
        </p:spPr>
      </p:sp>
      <p:sp>
        <p:nvSpPr>
          <p:cNvPr id="21" name="mem3"/>
          <p:cNvSpPr/>
          <p:nvPr/>
        </p:nvSpPr>
        <p:spPr>
          <a:xfrm>
            <a:off x="9162288" y="14630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22" name="memDot3"/>
          <p:cNvSpPr/>
          <p:nvPr/>
        </p:nvSpPr>
        <p:spPr>
          <a:xfrm>
            <a:off x="9390888" y="1691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9088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Cited evidence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90888" y="25786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treated like any other tool result</a:t>
            </a:r>
            <a:endParaRPr lang="en-US" sz="1150" dirty="0"/>
          </a:p>
        </p:txBody>
      </p:sp>
      <p:sp>
        <p:nvSpPr>
          <p:cNvPr id="26" name="memWhy"/>
          <p:cNvSpPr/>
          <p:nvPr/>
        </p:nvSpPr>
        <p:spPr>
          <a:xfrm>
            <a:off x="548640" y="37490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370832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 operational knowledge is not in the code — it is in runbooks and past postmortems.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Retrieval keeps the answer grounded in the team's own words, without fine-tuning a model.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knowledge finding cites its document, so a reviewer can check the claim in seconds.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The architecture is not a sketch — it runs</a:t>
            </a:r>
            <a:endParaRPr lang="en-US" sz="2600" dirty="0"/>
          </a:p>
        </p:txBody>
      </p:sp>
      <p:sp>
        <p:nvSpPr>
          <p:cNvPr id="3" name="stat0"/>
          <p:cNvSpPr/>
          <p:nvPr/>
        </p:nvSpPr>
        <p:spPr>
          <a:xfrm>
            <a:off x="54864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F3D5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91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4DD"/>
                </a:solidFill>
              </a:rPr>
              <a:t>agent roles</a:t>
            </a:r>
            <a:endParaRPr lang="en-US" sz="1200" dirty="0"/>
          </a:p>
        </p:txBody>
      </p:sp>
      <p:sp>
        <p:nvSpPr>
          <p:cNvPr id="6" name="stat1"/>
          <p:cNvSpPr/>
          <p:nvPr/>
        </p:nvSpPr>
        <p:spPr>
          <a:xfrm>
            <a:off x="3419856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F3D5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9856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19856" y="23591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4DD"/>
                </a:solidFill>
              </a:rPr>
              <a:t>live connectors</a:t>
            </a:r>
            <a:endParaRPr lang="en-US" sz="1200" dirty="0"/>
          </a:p>
        </p:txBody>
      </p:sp>
      <p:sp>
        <p:nvSpPr>
          <p:cNvPr id="9" name="stat2"/>
          <p:cNvSpPr/>
          <p:nvPr/>
        </p:nvSpPr>
        <p:spPr>
          <a:xfrm>
            <a:off x="6291072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F3D5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1072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229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3591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4DD"/>
                </a:solidFill>
              </a:rPr>
              <a:t>automated tests</a:t>
            </a:r>
            <a:endParaRPr lang="en-US" sz="1200" dirty="0"/>
          </a:p>
        </p:txBody>
      </p:sp>
      <p:sp>
        <p:nvSpPr>
          <p:cNvPr id="12" name="stat3"/>
          <p:cNvSpPr/>
          <p:nvPr/>
        </p:nvSpPr>
        <p:spPr>
          <a:xfrm>
            <a:off x="9162288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0F3D5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62288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~7.7 min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162288" y="23591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4DD"/>
                </a:solidFill>
              </a:rPr>
              <a:t>pilot run, end to end</a:t>
            </a:r>
            <a:endParaRPr lang="en-US" sz="1200" dirty="0"/>
          </a:p>
        </p:txBody>
      </p:sp>
      <p:sp>
        <p:nvSpPr>
          <p:cNvPr id="15" name="built"/>
          <p:cNvSpPr/>
          <p:nvPr/>
        </p:nvSpPr>
        <p:spPr>
          <a:xfrm>
            <a:off x="548640" y="32461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Built and working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858768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FastAPI + LangGraph orchestration, durable checkpoints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Connector catalog over MCP: GitHub, Supabase, knowledge vault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War Room: agents, evidence wall, approval in chat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Per-agent token accounting built into every run</a:t>
            </a:r>
            <a:endParaRPr lang="en-US" sz="1300" dirty="0"/>
          </a:p>
        </p:txBody>
      </p:sp>
      <p:sp>
        <p:nvSpPr>
          <p:cNvPr id="18" name="honest"/>
          <p:cNvSpPr/>
          <p:nvPr/>
        </p:nvSpPr>
        <p:spPr>
          <a:xfrm>
            <a:off x="6217920" y="32461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BF1E0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</a:rPr>
              <a:t>Stated honestly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858768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pilot run is an engineering observation, not an evaluation result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large-scale empirical study yet — that is the next phase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Measured on our own deployment, one stack, one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Evaluation measures four things against published baselines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6634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against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Root-cause accuracy @1 / @3; failure-point localisation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agent, same tools; one-shot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Unsupported-claim rate; citation validity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 et al. FSE'24: 6% vs 18% vs 49%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and USD per investigation, per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architecture without compaction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to root cause; human time to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investigation of the same 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enchCard"/>
          <p:cNvSpPr/>
          <p:nvPr/>
        </p:nvSpPr>
        <p:spPr>
          <a:xfrm>
            <a:off x="548640" y="40690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Three settings, strongest last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64515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Public benchmarks — OpenRCA (ICLR'25, 335 failures) and AIOpsLab (MLSys'25) fault scenarios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Controlled fault injection — 20–30 known faults on a live stack, all four metric families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Human study — engineers diagnosing with and without EOPS, time to correct diagnosis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We claim bounded context and parallel time — not fewer total tokens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4652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39% less input resent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46520" y="20208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older tool output collapses to its opening, keeping its citation id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Context never grows with the run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32552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each desk sees only its own tools; the RCA agent reads one-line evidence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Wall-clock follows the slowest desk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4489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 the sum of all of them — a single prompt cannot parallelise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6"/>
                </a:solidFill>
              </a:rPr>
              <a:t>Honest framing: a multi-agent system spends more total tokens than one prompt. The gain is bounded context per step, parallel wall-clock, and hours of human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5486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</a:rPr>
              <a:t>Investigation becomes coordinated and cited; the engineer still decides</a:t>
            </a:r>
            <a:endParaRPr lang="en-US" sz="2900" dirty="0"/>
          </a:p>
        </p:txBody>
      </p:sp>
      <p:sp>
        <p:nvSpPr>
          <p:cNvPr id="3" name="take0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A1E"/>
                </a:solidFill>
              </a:rPr>
              <a:t>Contribution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13055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supervisor-driven, customer-side multi-agent architecture with a shared, citation-enforced investigation state</a:t>
            </a:r>
            <a:endParaRPr lang="en-US" sz="1400" dirty="0"/>
          </a:p>
        </p:txBody>
      </p:sp>
      <p:sp>
        <p:nvSpPr>
          <p:cNvPr id="7" name="take1"/>
          <p:cNvSpPr/>
          <p:nvPr/>
        </p:nvSpPr>
        <p:spPr>
          <a:xfrm>
            <a:off x="822960" y="3218688"/>
            <a:ext cx="365760" cy="3657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172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A1E"/>
                </a:solidFill>
              </a:rPr>
              <a:t>Why it is credible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154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Published agents resolve only 11–15% of real scenarios autonomously — decision support is the right target today</a:t>
            </a:r>
            <a:endParaRPr lang="en-US" sz="1400" dirty="0"/>
          </a:p>
        </p:txBody>
      </p:sp>
      <p:sp>
        <p:nvSpPr>
          <p:cNvPr id="11" name="take2"/>
          <p:cNvSpPr/>
          <p:nvPr/>
        </p:nvSpPr>
        <p:spPr>
          <a:xfrm>
            <a:off x="822960" y="4242816"/>
            <a:ext cx="365760" cy="3657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97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A1E"/>
                </a:solidFill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4178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Measurement on OpenRCA and injected faults, graph-augmented retrieval, learning from accepted vs rejected recommendations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Thank you — questions welcome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Backup — how EOPS differs from prior systems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463040"/>
                <a:gridCol w="1463040"/>
                <a:gridCol w="128016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Ahmed'23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RCACopilot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Roy'24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investigation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handlers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specialised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 questions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Customer-side, any stack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evidence citation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need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accounting per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6"/>
                </a:solidFill>
              </a:rPr>
              <a:t>Every prior system is provider-side, built inside one company's own telemetry. EOPS is customer-side and tool-agnostic.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Backup — the numbers from the literature</a:t>
            </a:r>
            <a:endParaRPr lang="en-US" sz="2600" dirty="0"/>
          </a:p>
        </p:txBody>
      </p:sp>
      <p:sp>
        <p:nvSpPr>
          <p:cNvPr id="3" name="num0"/>
          <p:cNvSpPr/>
          <p:nvPr/>
        </p:nvSpPr>
        <p:spPr>
          <a:xfrm>
            <a:off x="548640" y="14173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52.5 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median time to mitigate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one year of Microsoft production incidents</a:t>
            </a:r>
            <a:endParaRPr lang="en-US" sz="1150" dirty="0"/>
          </a:p>
        </p:txBody>
      </p:sp>
      <p:sp>
        <p:nvSpPr>
          <p:cNvPr id="7" name="num1"/>
          <p:cNvSpPr/>
          <p:nvPr/>
        </p:nvSpPr>
        <p:spPr>
          <a:xfrm>
            <a:off x="6217920" y="14173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600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0.766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RCACopilot Micro-F1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root-cause category prediction, EuroSys 2024</a:t>
            </a:r>
            <a:endParaRPr lang="en-US" sz="1150" dirty="0"/>
          </a:p>
        </p:txBody>
      </p:sp>
      <p:sp>
        <p:nvSpPr>
          <p:cNvPr id="11" name="num2"/>
          <p:cNvSpPr/>
          <p:nvPr/>
        </p:nvSpPr>
        <p:spPr>
          <a:xfrm>
            <a:off x="548640" y="3657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40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6% vs 49%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hallucination, agent vs retrieval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Roy et al., FSE 2024 industry track</a:t>
            </a:r>
            <a:endParaRPr lang="en-US" sz="1150" dirty="0"/>
          </a:p>
        </p:txBody>
      </p:sp>
      <p:sp>
        <p:nvSpPr>
          <p:cNvPr id="15" name="num3"/>
          <p:cNvSpPr/>
          <p:nvPr/>
        </p:nvSpPr>
        <p:spPr>
          <a:xfrm>
            <a:off x="6217920" y="36576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840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11.34%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score on OpenRCA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5"/>
                </a:solidFill>
              </a:rPr>
              <a:t>335 real failures, ICLR 2025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Backup — the algorithmic components</a:t>
            </a:r>
            <a:endParaRPr lang="en-US" sz="2600" dirty="0"/>
          </a:p>
        </p:txBody>
      </p:sp>
      <p:sp>
        <p:nvSpPr>
          <p:cNvPr id="3" name="alg0"/>
          <p:cNvSpPr/>
          <p:nvPr/>
        </p:nvSpPr>
        <p:spPr>
          <a:xfrm>
            <a:off x="548640" y="14447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Constrained planning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371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planner may assign only desks with connected tools; the plan is a typed object, validated, one repair attempt, then it fails loudly</a:t>
            </a:r>
            <a:endParaRPr lang="en-US" sz="1200" dirty="0"/>
          </a:p>
        </p:txBody>
      </p:sp>
      <p:sp>
        <p:nvSpPr>
          <p:cNvPr id="7" name="alg1"/>
          <p:cNvSpPr/>
          <p:nvPr/>
        </p:nvSpPr>
        <p:spPr>
          <a:xfrm>
            <a:off x="548640" y="226771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Budgeted ReAct per desk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1945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Think → read tool → observe, bounded by 8 calls and a time budget; on exhaustion the harness forces a report</a:t>
            </a:r>
            <a:endParaRPr lang="en-US" sz="1200" dirty="0"/>
          </a:p>
        </p:txBody>
      </p:sp>
      <p:sp>
        <p:nvSpPr>
          <p:cNvPr id="11" name="alg2"/>
          <p:cNvSpPr/>
          <p:nvPr/>
        </p:nvSpPr>
        <p:spPr>
          <a:xfrm>
            <a:off x="548640" y="309067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Fan-out / fan-in on shared state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017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Map over desks, reduce into merged state channels, durable checkpoint so the run survives restart and the approval pause</a:t>
            </a:r>
            <a:endParaRPr lang="en-US" sz="1200" dirty="0"/>
          </a:p>
        </p:txBody>
      </p:sp>
      <p:sp>
        <p:nvSpPr>
          <p:cNvPr id="15" name="alg3"/>
          <p:cNvSpPr/>
          <p:nvPr/>
        </p:nvSpPr>
        <p:spPr>
          <a:xfrm>
            <a:off x="548640" y="39136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Bounded inter-agent questions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840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Per-agent and global question budgets prevent the unbounded chat loops of free-form multi-agent frameworks</a:t>
            </a:r>
            <a:endParaRPr lang="en-US" sz="1200" dirty="0"/>
          </a:p>
        </p:txBody>
      </p:sp>
      <p:sp>
        <p:nvSpPr>
          <p:cNvPr id="19" name="alg4"/>
          <p:cNvSpPr/>
          <p:nvPr/>
        </p:nvSpPr>
        <p:spPr>
          <a:xfrm>
            <a:off x="548640" y="47365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Hybrid retrieval with RRF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663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Dense embeddings and BM25 fused by reciprocal rank fusion for the Engineering Memory Layer</a:t>
            </a:r>
            <a:endParaRPr lang="en-US" sz="1200" dirty="0"/>
          </a:p>
        </p:txBody>
      </p:sp>
      <p:sp>
        <p:nvSpPr>
          <p:cNvPr id="23" name="alg5"/>
          <p:cNvSpPr/>
          <p:nvPr/>
        </p:nvSpPr>
        <p:spPr>
          <a:xfrm>
            <a:off x="548640" y="55595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559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486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Deterministic calibration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5486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Confidence capped in code: no evidence ≤ 0.2, single source ≤ 0.6, contradiction −0.1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Backup — safety, injection and the approval gate</a:t>
            </a:r>
            <a:endParaRPr lang="en-US" sz="2600" dirty="0"/>
          </a:p>
        </p:txBody>
      </p:sp>
      <p:sp>
        <p:nvSpPr>
          <p:cNvPr id="3" name="safe0"/>
          <p:cNvSpPr/>
          <p:nvPr/>
        </p:nvSpPr>
        <p:spPr>
          <a:xfrm>
            <a:off x="548640" y="14630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81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Tool output is data, never instruction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58191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Results are wrapped and treated as untrusted text; an injected instruction inside a log line is not followed</a:t>
            </a:r>
            <a:endParaRPr lang="en-US" sz="1250" dirty="0"/>
          </a:p>
        </p:txBody>
      </p:sp>
      <p:sp>
        <p:nvSpPr>
          <p:cNvPr id="6" name="safe1"/>
          <p:cNvSpPr/>
          <p:nvPr/>
        </p:nvSpPr>
        <p:spPr>
          <a:xfrm>
            <a:off x="548640" y="267004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Read-only investigation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7889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Even a successful injection cannot change the customer's systems — investigating desks hold no write tools</a:t>
            </a:r>
            <a:endParaRPr lang="en-US" sz="1250" dirty="0"/>
          </a:p>
        </p:txBody>
      </p:sp>
      <p:sp>
        <p:nvSpPr>
          <p:cNvPr id="9" name="safe2"/>
          <p:cNvSpPr/>
          <p:nvPr/>
        </p:nvSpPr>
        <p:spPr>
          <a:xfrm>
            <a:off x="548640" y="387705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Writes are opt-in and approved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99592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one write in the MVP, creating an issue, needs an opted-in connection and an explicit human approval</a:t>
            </a:r>
            <a:endParaRPr lang="en-US" sz="1250" dirty="0"/>
          </a:p>
        </p:txBody>
      </p:sp>
      <p:sp>
        <p:nvSpPr>
          <p:cNvPr id="12" name="safe3"/>
          <p:cNvSpPr/>
          <p:nvPr/>
        </p:nvSpPr>
        <p:spPr>
          <a:xfrm>
            <a:off x="548640" y="5084064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EF3F6"/>
          </a:solidFill>
          <a:ln w="9525">
            <a:solidFill>
              <a:srgbClr val="DCE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202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Secrets stay server-side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520293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Connector tokens are encrypted at rest and never returned to the browser or placed in a prompt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Backup — a new tool needs no new agent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377440"/>
                <a:gridCol w="35661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 it reaches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github.list_commits, get_file_contents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github.actions_list, get_job_logs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&amp; Hosting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supabase.execute_sql, list_migrations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supabase.query_logs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supabase.list_edge_functions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&amp;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knowledge.search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github.create_issue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— only after approval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6"/>
                </a:solidFill>
              </a:rPr>
              <a:t>Each connector is an MCP server. Its abilities are allowlisted and routed by capability, so adding Cloudflare, Sentry or Datadog adds no agent code.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OPS Incident Investigation">
  <a:themeElements>
    <a:clrScheme name="EOPS Incident Investigation">
      <a:dk1>
        <a:srgbClr val="0B1F2A"/>
      </a:dk1>
      <a:lt1>
        <a:srgbClr val="FFFFFF"/>
      </a:lt1>
      <a:dk2>
        <a:srgbClr val="0F3D56"/>
      </a:dk2>
      <a:lt2>
        <a:srgbClr val="EEF3F6"/>
      </a:lt2>
      <a:accent1>
        <a:srgbClr val="0F3D56"/>
      </a:accent1>
      <a:accent2>
        <a:srgbClr val="1C7293"/>
      </a:accent2>
      <a:accent3>
        <a:srgbClr val="E08A1E"/>
      </a:accent3>
      <a:accent4>
        <a:srgbClr val="2E7D5B"/>
      </a:accent4>
      <a:accent5>
        <a:srgbClr val="B3261E"/>
      </a:accent5>
      <a:accent6>
        <a:srgbClr val="5A6B75"/>
      </a:accent6>
      <a:hlink>
        <a:srgbClr val="1C7293"/>
      </a:hlink>
      <a:folHlink>
        <a:srgbClr val="5A6B75"/>
      </a:folHlink>
    </a:clrScheme>
    <a:fontScheme name="EOPS Incident Inves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EOPS: A Multi-Agent AI Engineering Operations Platform</dc:title>
  <dc:subject>PptxGenJS Presentation</dc:subject>
  <dc:creator>Sanjay P C</dc:creator>
  <cp:lastModifiedBy>Sanjay P C</cp:lastModifiedBy>
  <cp:revision>1</cp:revision>
  <dcterms:created xsi:type="dcterms:W3CDTF">2026-10-10T17:14:46Z</dcterms:created>
  <dcterms:modified xsi:type="dcterms:W3CDTF">2026-10-10T17:14:46Z</dcterms:modified>
</cp:coreProperties>
</file>