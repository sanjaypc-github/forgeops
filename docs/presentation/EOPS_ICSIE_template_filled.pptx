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handoutMasterIdLst>
    <p:handoutMasterId r:id="rId12"/>
  </p:handoutMasterIdLst>
  <p:sldIdLst>
    <p:sldId id="273" r:id="rId2"/>
    <p:sldId id="258" r:id="rId3"/>
    <p:sldId id="259" r:id="rId4"/>
    <p:sldId id="260" r:id="rId5"/>
    <p:sldId id="266" r:id="rId6"/>
    <p:sldId id="265" r:id="rId7"/>
    <p:sldId id="263" r:id="rId8"/>
    <p:sldId id="268" r:id="rId9"/>
    <p:sldId id="27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4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22" autoAdjust="0"/>
    <p:restoredTop sz="94660"/>
  </p:normalViewPr>
  <p:slideViewPr>
    <p:cSldViewPr>
      <p:cViewPr varScale="1">
        <p:scale>
          <a:sx n="78" d="100"/>
          <a:sy n="78" d="100"/>
        </p:scale>
        <p:origin x="1603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r>
              <a:rPr lang="en-US" sz="1100" b="1">
                <a:solidFill>
                  <a:srgbClr val="1A1A1A"/>
                </a:solidFill>
                <a:latin typeface="Arial"/>
              </a:rPr>
              <a:t>Context resent per desk (8 tool calls)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Input characters resent</c:v>
                </c:pt>
              </c:strCache>
            </c:strRef>
          </c:tx>
          <c:spPr>
            <a:solidFill>
              <a:srgbClr val="1F4E79"/>
            </a:solidFill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>
                    <a:solidFill>
                      <a:srgbClr val="1A1A1A"/>
                    </a:solidFill>
                    <a:latin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Without
compaction</c:v>
                </c:pt>
                <c:pt idx="1">
                  <c:v>With
compaction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288000</c:v>
                </c:pt>
                <c:pt idx="1">
                  <c:v>175500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4BC-4C63-92B1-DC8622D09A5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5A5A5A"/>
                </a:solidFill>
                <a:latin typeface="Arial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320000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5A5A5A"/>
                </a:solidFill>
                <a:latin typeface="Arial"/>
              </a:defRPr>
            </a:pPr>
            <a:endParaRPr lang="en-US"/>
          </a:p>
        </c:txPr>
        <c:crossAx val="-2068027336"/>
        <c:crosses val="autoZero"/>
        <c:crossBetween val="between"/>
        <c:majorUnit val="80000"/>
      </c:valAx>
    </c:plotArea>
    <c:plotVisOnly val="0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56D20C20-D3DA-47F5-B399-902DC1C1091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C37F61B6-1516-4B99-BFB9-6BB99796290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8497B05-99FB-4608-A8FA-8553CE6E09B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7310" y="0"/>
            <a:ext cx="2406690" cy="685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C8912E-0F11-406A-9A9A-227C0DA5482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2131" y="0"/>
            <a:ext cx="1871870" cy="5334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0CA76FD-4697-411A-BFBA-CA96FF10CC1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2490" y="0"/>
            <a:ext cx="2941510" cy="8382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84B44D6-07AC-4D74-92FF-5DA2FEF2CA0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BA6107-DC8A-421C-8847-D4CB7705E4E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2631AD4-7465-46E1-876D-A387D1E3C98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1A7202-B180-40D6-82AE-240C0400939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373B885-6E59-4CF5-8758-E90D75F40AB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A1021-9D2C-4019-B399-B407BB5EBFB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48CB079-4821-45F6-9B07-86642B3DCA6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A6A1E4-3A00-4043-9616-3567080BBA6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B1B852D-5866-4B9C-B5CF-DE9045E9E2A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DD3C7-85CE-E4A7-D368-209BBEF0D8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1463040"/>
            <a:ext cx="8046720" cy="1920240"/>
          </a:xfrm>
        </p:spPr>
        <p:txBody>
          <a:bodyPr>
            <a:normAutofit fontScale="90000"/>
          </a:bodyPr>
          <a:lstStyle/>
          <a:p>
            <a:r>
              <a:rPr lang="en-IN" sz="2400" b="1" dirty="0">
                <a:solidFill>
                  <a:srgbClr val="143655"/>
                </a:solidFill>
              </a:rPr>
              <a:t>EOPS: A Multi-Agent AI Engineering Operations Platform for Automated Incident Investigation and Root Cause Analysis</a:t>
            </a:r>
            <a:br>
              <a:rPr lang="en-IN" dirty="0"/>
            </a:br>
            <a:br>
              <a:rPr lang="en-IN" dirty="0"/>
            </a:br>
            <a:br>
              <a:rPr lang="en-IN" dirty="0"/>
            </a:br>
            <a:endParaRPr lang="en-IN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73293B0F-3814-5D7C-D095-97F1B64AB9E5}"/>
              </a:ext>
            </a:extLst>
          </p:cNvPr>
          <p:cNvSpPr txBox="1">
            <a:spLocks/>
          </p:cNvSpPr>
          <p:nvPr/>
        </p:nvSpPr>
        <p:spPr>
          <a:xfrm>
            <a:off x="5289452" y="4011710"/>
            <a:ext cx="29718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500" b="1">
                <a:solidFill>
                  <a:srgbClr val="1A1A1A"/>
                </a:solidFill>
                <a:latin typeface="Arial"/>
              </a:rPr>
              <a:t>Sanjay P C</a:t>
            </a:r>
          </a:p>
          <a:p>
            <a:pPr algn="ctr"/>
            <a:r>
              <a:rPr sz="1500" b="0">
                <a:solidFill>
                  <a:srgbClr val="1A1A1A"/>
                </a:solidFill>
                <a:latin typeface="Arial"/>
              </a:rPr>
              <a:t>Sam Benadick J</a:t>
            </a:r>
          </a:p>
          <a:p>
            <a:pPr algn="ctr"/>
            <a:r>
              <a:rPr sz="1500" b="0">
                <a:solidFill>
                  <a:srgbClr val="1A1A1A"/>
                </a:solidFill>
                <a:latin typeface="Arial"/>
              </a:rPr>
              <a:t>Praveenkumar S</a:t>
            </a:r>
          </a:p>
          <a:p>
            <a:pPr algn="ctr"/>
            <a:r>
              <a:rPr sz="1500" b="0">
                <a:solidFill>
                  <a:srgbClr val="1A1A1A"/>
                </a:solidFill>
                <a:latin typeface="Arial"/>
              </a:rPr>
              <a:t>Nibuna A</a:t>
            </a:r>
          </a:p>
          <a:p>
            <a:pPr algn="ctr"/>
            <a:r>
              <a:rPr sz="1200" b="0">
                <a:solidFill>
                  <a:srgbClr val="5A5A5A"/>
                </a:solidFill>
                <a:latin typeface="Arial"/>
              </a:rPr>
              <a:t>B.Tech AI &amp; Data Science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28CD4B-C406-2EF4-D659-2A46CB94DBD0}"/>
              </a:ext>
            </a:extLst>
          </p:cNvPr>
          <p:cNvSpPr txBox="1">
            <a:spLocks/>
          </p:cNvSpPr>
          <p:nvPr/>
        </p:nvSpPr>
        <p:spPr>
          <a:xfrm>
            <a:off x="677007" y="4168409"/>
            <a:ext cx="29718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500" b="1">
                <a:solidFill>
                  <a:srgbClr val="1A1A1A"/>
                </a:solidFill>
                <a:latin typeface="Arial"/>
              </a:rPr>
              <a:t>Ms D. Hemamalini</a:t>
            </a:r>
          </a:p>
          <a:p>
            <a:pPr algn="ctr"/>
            <a:r>
              <a:rPr sz="1200" b="0">
                <a:solidFill>
                  <a:srgbClr val="5A5A5A"/>
                </a:solidFill>
                <a:latin typeface="Arial"/>
              </a:rPr>
              <a:t>Assistant Professor</a:t>
            </a:r>
          </a:p>
          <a:p>
            <a:pPr algn="ctr"/>
            <a:r>
              <a:rPr sz="1200" b="0">
                <a:solidFill>
                  <a:srgbClr val="5A5A5A"/>
                </a:solidFill>
                <a:latin typeface="Arial"/>
              </a:rPr>
              <a:t>Dept. of AI &amp; Data Science</a:t>
            </a:r>
          </a:p>
          <a:p>
            <a:pPr algn="ctr"/>
            <a:r>
              <a:rPr sz="1200" b="0">
                <a:solidFill>
                  <a:srgbClr val="5A5A5A"/>
                </a:solidFill>
                <a:latin typeface="Arial"/>
              </a:rPr>
              <a:t>Sri Eshwar College of Engineering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6C95FFC-BBF6-012D-62F6-D74D62A25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0B5E6-2E63-4AA7-B089-7C608B25C13E}" type="datetime1">
              <a:rPr lang="en-IN" smtClean="0"/>
              <a:pPr/>
              <a:t>11-10-2026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E701178-CB8F-FB74-F376-41345DDE3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ICSIE 2026 — Paper Presentation</a:t>
            </a:r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3D3AD61-309C-FA53-104C-C627AFD0A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911C6-0972-40A4-AA25-F9D0D6A17136}" type="slidenum">
              <a:rPr lang="en-IN" smtClean="0"/>
              <a:pPr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5528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3"/>
          <p:cNvSpPr txBox="1">
            <a:spLocks noChangeArrowheads="1"/>
          </p:cNvSpPr>
          <p:nvPr/>
        </p:nvSpPr>
        <p:spPr bwMode="auto">
          <a:xfrm>
            <a:off x="990600" y="274320"/>
            <a:ext cx="7239000" cy="8229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200" b="1" dirty="0">
                <a:latin typeface="Arial" pitchFamily="34" charset="0"/>
                <a:cs typeface="Arial" pitchFamily="34" charset="0"/>
              </a:rPr>
              <a:t>INTRODUCTION</a:t>
            </a:r>
          </a:p>
        </p:txBody>
      </p:sp>
      <p:sp>
        <p:nvSpPr>
          <p:cNvPr id="5123" name="Rounded Rectangle 5122"/>
          <p:cNvSpPr/>
          <p:nvPr/>
        </p:nvSpPr>
        <p:spPr>
          <a:xfrm>
            <a:off x="6263640" y="1463040"/>
            <a:ext cx="2423160" cy="1737360"/>
          </a:xfrm>
          <a:prstGeom prst="roundRect">
            <a:avLst>
              <a:gd name="adj" fmla="val 8000"/>
            </a:avLst>
          </a:prstGeom>
          <a:solidFill>
            <a:srgbClr val="143655"/>
          </a:solidFill>
          <a:ln w="9525">
            <a:solidFill>
              <a:srgbClr val="1436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endParaRPr/>
          </a:p>
        </p:txBody>
      </p:sp>
      <p:sp>
        <p:nvSpPr>
          <p:cNvPr id="5124" name="TextBox 5123"/>
          <p:cNvSpPr txBox="1"/>
          <p:nvPr/>
        </p:nvSpPr>
        <p:spPr>
          <a:xfrm>
            <a:off x="6355080" y="1627632"/>
            <a:ext cx="2240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52.5 h</a:t>
            </a:r>
          </a:p>
        </p:txBody>
      </p:sp>
      <p:sp>
        <p:nvSpPr>
          <p:cNvPr id="5125" name="TextBox 5124"/>
          <p:cNvSpPr txBox="1"/>
          <p:nvPr/>
        </p:nvSpPr>
        <p:spPr>
          <a:xfrm>
            <a:off x="6355080" y="2267712"/>
            <a:ext cx="22402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050" b="0" i="0">
                <a:solidFill>
                  <a:srgbClr val="D6E2EA"/>
                </a:solidFill>
                <a:latin typeface="Arial"/>
              </a:rPr>
              <a:t>median time to mitigate a production incident (Microsoft, one year of incidents)</a:t>
            </a:r>
          </a:p>
        </p:txBody>
      </p:sp>
      <p:sp>
        <p:nvSpPr>
          <p:cNvPr id="5126" name="TextBox 5125"/>
          <p:cNvSpPr txBox="1"/>
          <p:nvPr/>
        </p:nvSpPr>
        <p:spPr>
          <a:xfrm>
            <a:off x="502920" y="1481328"/>
            <a:ext cx="557784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350" b="1" i="0">
                <a:solidFill>
                  <a:srgbClr val="1F4E79"/>
                </a:solidFill>
                <a:latin typeface="Arial"/>
              </a:rPr>
              <a:t>•  </a:t>
            </a:r>
            <a:r>
              <a:rPr sz="1350" b="0" i="0">
                <a:solidFill>
                  <a:srgbClr val="1A1A1A"/>
                </a:solidFill>
                <a:latin typeface="Arial"/>
              </a:rPr>
              <a:t>Cloud-native systems ship daily; production incidents are unavoidable.</a:t>
            </a:r>
          </a:p>
          <a:p>
            <a:pPr algn="l">
              <a:spcAft>
                <a:spcPts val="1200"/>
              </a:spcAft>
            </a:pPr>
            <a:r>
              <a:rPr sz="1350" b="1" i="0">
                <a:solidFill>
                  <a:srgbClr val="1F4E79"/>
                </a:solidFill>
                <a:latin typeface="Arial"/>
              </a:rPr>
              <a:t>•  </a:t>
            </a:r>
            <a:r>
              <a:rPr sz="1350" b="0" i="0">
                <a:solidFill>
                  <a:srgbClr val="1A1A1A"/>
                </a:solidFill>
                <a:latin typeface="Arial"/>
              </a:rPr>
              <a:t>One investigation spans six disconnected systems: </a:t>
            </a:r>
            <a:r>
              <a:rPr sz="1350" b="1" i="0">
                <a:solidFill>
                  <a:srgbClr val="1A1A1A"/>
                </a:solidFill>
                <a:latin typeface="Arial"/>
              </a:rPr>
              <a:t>source code, deployments, database, logs, runbooks and team chat.</a:t>
            </a:r>
          </a:p>
          <a:p>
            <a:pPr algn="l">
              <a:spcAft>
                <a:spcPts val="1200"/>
              </a:spcAft>
            </a:pPr>
            <a:r>
              <a:rPr sz="1350" b="1" i="0">
                <a:solidFill>
                  <a:srgbClr val="1F4E79"/>
                </a:solidFill>
                <a:latin typeface="Arial"/>
              </a:rPr>
              <a:t>•  </a:t>
            </a:r>
            <a:r>
              <a:rPr sz="1350" b="0" i="0">
                <a:solidFill>
                  <a:srgbClr val="1A1A1A"/>
                </a:solidFill>
                <a:latin typeface="Arial"/>
              </a:rPr>
              <a:t>Engineers correlate this evidence manually. Context switching raises cognitive load, prolongs Mean Time to Resolution and makes diagnosis depend on individual expertise.</a:t>
            </a:r>
          </a:p>
          <a:p>
            <a:pPr algn="l">
              <a:spcAft>
                <a:spcPts val="1200"/>
              </a:spcAft>
            </a:pPr>
            <a:r>
              <a:rPr sz="1350" b="1" i="0">
                <a:solidFill>
                  <a:srgbClr val="1F4E79"/>
                </a:solidFill>
                <a:latin typeface="Arial"/>
              </a:rPr>
              <a:t>•  </a:t>
            </a:r>
            <a:r>
              <a:rPr sz="1350" b="0" i="0">
                <a:solidFill>
                  <a:srgbClr val="1A1A1A"/>
                </a:solidFill>
                <a:latin typeface="Arial"/>
              </a:rPr>
              <a:t>Existing LLM assistants target code generation or conversation, not coordinated investigation across engineering tools.</a:t>
            </a:r>
          </a:p>
        </p:txBody>
      </p:sp>
      <p:sp>
        <p:nvSpPr>
          <p:cNvPr id="5127" name="Rounded Rectangle 5126"/>
          <p:cNvSpPr/>
          <p:nvPr/>
        </p:nvSpPr>
        <p:spPr>
          <a:xfrm>
            <a:off x="502920" y="4343400"/>
            <a:ext cx="8183879" cy="1097280"/>
          </a:xfrm>
          <a:prstGeom prst="roundRect">
            <a:avLst>
              <a:gd name="adj" fmla="val 8000"/>
            </a:avLst>
          </a:prstGeom>
          <a:solidFill>
            <a:srgbClr val="FBF2E2"/>
          </a:solidFill>
          <a:ln w="9525">
            <a:solidFill>
              <a:srgbClr val="EBD9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endParaRPr/>
          </a:p>
        </p:txBody>
      </p:sp>
      <p:sp>
        <p:nvSpPr>
          <p:cNvPr id="5128" name="TextBox 5127"/>
          <p:cNvSpPr txBox="1"/>
          <p:nvPr/>
        </p:nvSpPr>
        <p:spPr>
          <a:xfrm>
            <a:off x="731520" y="4526280"/>
            <a:ext cx="77724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B56A00"/>
                </a:solidFill>
                <a:latin typeface="Arial"/>
              </a:rPr>
              <a:t>Objective:  </a:t>
            </a:r>
            <a:r>
              <a:rPr sz="1300" b="0" i="0">
                <a:solidFill>
                  <a:srgbClr val="1A1A1A"/>
                </a:solidFill>
                <a:latin typeface="Arial"/>
              </a:rPr>
              <a:t>a supervisor-driven multi-agent platform where specialised agents investigate a team's own tools in parallel and return an evidence-cited root cause, with human approval before any action.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2"/>
          <p:cNvSpPr txBox="1">
            <a:spLocks noChangeArrowheads="1"/>
          </p:cNvSpPr>
          <p:nvPr/>
        </p:nvSpPr>
        <p:spPr bwMode="auto">
          <a:xfrm>
            <a:off x="685800" y="274320"/>
            <a:ext cx="7772400" cy="8229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200" b="1" dirty="0">
                <a:latin typeface="+mn-lt"/>
              </a:rPr>
              <a:t>LITERATURE REVIEW</a:t>
            </a:r>
          </a:p>
        </p:txBody>
      </p:sp>
      <p:graphicFrame>
        <p:nvGraphicFramePr>
          <p:cNvPr id="6147" name="Table 6146"/>
          <p:cNvGraphicFramePr>
            <a:graphicFrameLocks noGrp="1"/>
          </p:cNvGraphicFramePr>
          <p:nvPr/>
        </p:nvGraphicFramePr>
        <p:xfrm>
          <a:off x="457200" y="1371600"/>
          <a:ext cx="822960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Work</a:t>
                      </a:r>
                    </a:p>
                  </a:txBody>
                  <a:tcPr marL="54864" marR="54864" marT="18288" marB="18288" anchor="ctr">
                    <a:solidFill>
                      <a:srgbClr val="1436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54864" marR="54864" marT="18288" marB="18288" anchor="ctr">
                    <a:solidFill>
                      <a:srgbClr val="1436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Limitation for incident investigation</a:t>
                      </a:r>
                    </a:p>
                  </a:txBody>
                  <a:tcPr marL="54864" marR="54864" marT="18288" marB="18288" anchor="ctr">
                    <a:solidFill>
                      <a:srgbClr val="1436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Lewis et al., NeurIPS 2020 — RAG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Grounds generation in retrieved documents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Retrieval only; no tools, no investigation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Yao et al., ICLR 2023 — ReAct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Interleaves reasoning with tool actions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Single agent on a single task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Wu et al., COLM 2024 — AutoGen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Multi-agent conversation framework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Unbounded chat; no evidence contract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Ahmed et al., ICSE 2023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Fine-tuned LLM proposes root cause from incident text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One-shot; no multi-source evidence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Chen et al., EuroSys 2024 — RCACopilot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Handlers collect diagnostics; LLM predicts category (Micro-F1 0.766)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Provider-side; one handler per alert type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Roy et al., FSE 2024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ReAct agent for RCA; hallucination 6% vs 49% for retrieval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Single agent; diagnosis only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Yang et al., NeurIPS 2024 — SWE-agent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Agent-computer interface resolves repository issues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Repository only; no live system signals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148" name="Rounded Rectangle 6147"/>
          <p:cNvSpPr/>
          <p:nvPr/>
        </p:nvSpPr>
        <p:spPr>
          <a:xfrm>
            <a:off x="457200" y="4800600"/>
            <a:ext cx="8229600" cy="1097280"/>
          </a:xfrm>
          <a:prstGeom prst="roundRect">
            <a:avLst>
              <a:gd name="adj" fmla="val 8000"/>
            </a:avLst>
          </a:prstGeom>
          <a:solidFill>
            <a:srgbClr val="143655"/>
          </a:solidFill>
          <a:ln w="9525">
            <a:solidFill>
              <a:srgbClr val="1436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endParaRPr/>
          </a:p>
        </p:txBody>
      </p:sp>
      <p:sp>
        <p:nvSpPr>
          <p:cNvPr id="6149" name="TextBox 6148"/>
          <p:cNvSpPr txBox="1"/>
          <p:nvPr/>
        </p:nvSpPr>
        <p:spPr>
          <a:xfrm>
            <a:off x="685800" y="4983480"/>
            <a:ext cx="7772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F0B45F"/>
                </a:solidFill>
                <a:latin typeface="Arial"/>
              </a:rPr>
              <a:t>Research gap:  </a:t>
            </a:r>
            <a:r>
              <a:rPr sz="1250" b="0" i="0">
                <a:solidFill>
                  <a:srgbClr val="FFFFFF"/>
                </a:solidFill>
                <a:latin typeface="Arial"/>
              </a:rPr>
              <a:t>no system coordinates several specialised agents over a customer's own heterogeneous tools, sharing one investigation state in which every finding must cite the tool call that produced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/>
          <p:cNvSpPr txBox="1">
            <a:spLocks noChangeArrowheads="1"/>
          </p:cNvSpPr>
          <p:nvPr/>
        </p:nvSpPr>
        <p:spPr bwMode="auto">
          <a:xfrm>
            <a:off x="609600" y="274320"/>
            <a:ext cx="7924800" cy="8229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b="1" dirty="0">
                <a:latin typeface="Arial" pitchFamily="34" charset="0"/>
                <a:cs typeface="Arial" pitchFamily="34" charset="0"/>
              </a:rPr>
              <a:t>METHODOLOGY / MATERIALS AND METHODS</a:t>
            </a:r>
          </a:p>
        </p:txBody>
      </p:sp>
      <p:sp>
        <p:nvSpPr>
          <p:cNvPr id="7171" name="Rounded Rectangle 7170"/>
          <p:cNvSpPr/>
          <p:nvPr/>
        </p:nvSpPr>
        <p:spPr>
          <a:xfrm>
            <a:off x="457200" y="1325880"/>
            <a:ext cx="1737360" cy="5029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00" b="1">
                <a:solidFill>
                  <a:srgbClr val="1A1A1A"/>
                </a:solidFill>
                <a:latin typeface="Arial"/>
              </a:rPr>
              <a:t>Incident in chat</a:t>
            </a:r>
          </a:p>
        </p:txBody>
      </p:sp>
      <p:sp>
        <p:nvSpPr>
          <p:cNvPr id="7172" name="Right Arrow 7171"/>
          <p:cNvSpPr/>
          <p:nvPr/>
        </p:nvSpPr>
        <p:spPr>
          <a:xfrm>
            <a:off x="2286000" y="1490472"/>
            <a:ext cx="320040" cy="164592"/>
          </a:xfrm>
          <a:prstGeom prst="rightArrow">
            <a:avLst/>
          </a:prstGeom>
          <a:solidFill>
            <a:srgbClr val="9AA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73" name="Rounded Rectangle 7172"/>
          <p:cNvSpPr/>
          <p:nvPr/>
        </p:nvSpPr>
        <p:spPr>
          <a:xfrm>
            <a:off x="2697480" y="1325880"/>
            <a:ext cx="2011680" cy="502920"/>
          </a:xfrm>
          <a:prstGeom prst="roundRect">
            <a:avLst>
              <a:gd name="adj" fmla="val 8000"/>
            </a:avLst>
          </a:prstGeom>
          <a:solidFill>
            <a:srgbClr val="1F4E79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Supervisor plans</a:t>
            </a:r>
          </a:p>
        </p:txBody>
      </p:sp>
      <p:sp>
        <p:nvSpPr>
          <p:cNvPr id="7174" name="TextBox 7173"/>
          <p:cNvSpPr txBox="1"/>
          <p:nvPr/>
        </p:nvSpPr>
        <p:spPr>
          <a:xfrm>
            <a:off x="4892040" y="1325880"/>
            <a:ext cx="37947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1">
                <a:solidFill>
                  <a:srgbClr val="5A5A5A"/>
                </a:solidFill>
                <a:latin typeface="Arial"/>
              </a:rPr>
              <a:t>may assign only desks that have a connected tool</a:t>
            </a:r>
          </a:p>
        </p:txBody>
      </p:sp>
      <p:sp>
        <p:nvSpPr>
          <p:cNvPr id="7175" name="Down Arrow 7174"/>
          <p:cNvSpPr/>
          <p:nvPr/>
        </p:nvSpPr>
        <p:spPr>
          <a:xfrm>
            <a:off x="3611880" y="1874519"/>
            <a:ext cx="182880" cy="274320"/>
          </a:xfrm>
          <a:prstGeom prst="downArrow">
            <a:avLst/>
          </a:prstGeom>
          <a:solidFill>
            <a:srgbClr val="9AA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76" name="Rounded Rectangle 7175"/>
          <p:cNvSpPr/>
          <p:nvPr/>
        </p:nvSpPr>
        <p:spPr>
          <a:xfrm>
            <a:off x="457200" y="2194560"/>
            <a:ext cx="1280160" cy="658368"/>
          </a:xfrm>
          <a:prstGeom prst="roundRect">
            <a:avLst>
              <a:gd name="adj" fmla="val 8000"/>
            </a:avLst>
          </a:prstGeom>
          <a:solidFill>
            <a:srgbClr val="E4ED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950" b="1">
                <a:solidFill>
                  <a:srgbClr val="143655"/>
                </a:solidFill>
                <a:latin typeface="Arial"/>
              </a:rPr>
              <a:t>Code</a:t>
            </a:r>
          </a:p>
        </p:txBody>
      </p:sp>
      <p:sp>
        <p:nvSpPr>
          <p:cNvPr id="7177" name="Rounded Rectangle 7176"/>
          <p:cNvSpPr/>
          <p:nvPr/>
        </p:nvSpPr>
        <p:spPr>
          <a:xfrm>
            <a:off x="1856232" y="2194560"/>
            <a:ext cx="1280160" cy="658368"/>
          </a:xfrm>
          <a:prstGeom prst="roundRect">
            <a:avLst>
              <a:gd name="adj" fmla="val 8000"/>
            </a:avLst>
          </a:prstGeom>
          <a:solidFill>
            <a:srgbClr val="E4ED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950" b="1">
                <a:solidFill>
                  <a:srgbClr val="143655"/>
                </a:solidFill>
                <a:latin typeface="Arial"/>
              </a:rPr>
              <a:t>Frontend</a:t>
            </a:r>
          </a:p>
          <a:p>
            <a:pPr algn="ctr"/>
            <a:r>
              <a:rPr sz="950" b="1">
                <a:solidFill>
                  <a:srgbClr val="143655"/>
                </a:solidFill>
                <a:latin typeface="Arial"/>
              </a:rPr>
              <a:t>&amp; Hosting</a:t>
            </a:r>
          </a:p>
        </p:txBody>
      </p:sp>
      <p:sp>
        <p:nvSpPr>
          <p:cNvPr id="7178" name="Rounded Rectangle 7177"/>
          <p:cNvSpPr/>
          <p:nvPr/>
        </p:nvSpPr>
        <p:spPr>
          <a:xfrm>
            <a:off x="3255264" y="2194560"/>
            <a:ext cx="1280160" cy="658368"/>
          </a:xfrm>
          <a:prstGeom prst="roundRect">
            <a:avLst>
              <a:gd name="adj" fmla="val 8000"/>
            </a:avLst>
          </a:prstGeom>
          <a:solidFill>
            <a:srgbClr val="E4ED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950" b="1">
                <a:solidFill>
                  <a:srgbClr val="143655"/>
                </a:solidFill>
                <a:latin typeface="Arial"/>
              </a:rPr>
              <a:t>Backend</a:t>
            </a:r>
          </a:p>
          <a:p>
            <a:pPr algn="ctr"/>
            <a:r>
              <a:rPr sz="950" b="1">
                <a:solidFill>
                  <a:srgbClr val="143655"/>
                </a:solidFill>
                <a:latin typeface="Arial"/>
              </a:rPr>
              <a:t>&amp; Services</a:t>
            </a:r>
          </a:p>
        </p:txBody>
      </p:sp>
      <p:sp>
        <p:nvSpPr>
          <p:cNvPr id="7179" name="Rounded Rectangle 7178"/>
          <p:cNvSpPr/>
          <p:nvPr/>
        </p:nvSpPr>
        <p:spPr>
          <a:xfrm>
            <a:off x="4654296" y="2194560"/>
            <a:ext cx="1280160" cy="658368"/>
          </a:xfrm>
          <a:prstGeom prst="roundRect">
            <a:avLst>
              <a:gd name="adj" fmla="val 8000"/>
            </a:avLst>
          </a:prstGeom>
          <a:solidFill>
            <a:srgbClr val="E4ED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950" b="1">
                <a:solidFill>
                  <a:srgbClr val="143655"/>
                </a:solidFill>
                <a:latin typeface="Arial"/>
              </a:rPr>
              <a:t>Database</a:t>
            </a:r>
          </a:p>
        </p:txBody>
      </p:sp>
      <p:sp>
        <p:nvSpPr>
          <p:cNvPr id="7180" name="Rounded Rectangle 7179"/>
          <p:cNvSpPr/>
          <p:nvPr/>
        </p:nvSpPr>
        <p:spPr>
          <a:xfrm>
            <a:off x="6053328" y="2194560"/>
            <a:ext cx="1280160" cy="658368"/>
          </a:xfrm>
          <a:prstGeom prst="roundRect">
            <a:avLst>
              <a:gd name="adj" fmla="val 8000"/>
            </a:avLst>
          </a:prstGeom>
          <a:solidFill>
            <a:srgbClr val="E4ED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950" b="1">
                <a:solidFill>
                  <a:srgbClr val="143655"/>
                </a:solidFill>
                <a:latin typeface="Arial"/>
              </a:rPr>
              <a:t>Observability</a:t>
            </a:r>
          </a:p>
        </p:txBody>
      </p:sp>
      <p:sp>
        <p:nvSpPr>
          <p:cNvPr id="7181" name="Rounded Rectangle 7180"/>
          <p:cNvSpPr/>
          <p:nvPr/>
        </p:nvSpPr>
        <p:spPr>
          <a:xfrm>
            <a:off x="7452360" y="2194560"/>
            <a:ext cx="1280160" cy="658368"/>
          </a:xfrm>
          <a:prstGeom prst="roundRect">
            <a:avLst>
              <a:gd name="adj" fmla="val 8000"/>
            </a:avLst>
          </a:prstGeom>
          <a:solidFill>
            <a:srgbClr val="E4ED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950" b="1">
                <a:solidFill>
                  <a:srgbClr val="143655"/>
                </a:solidFill>
                <a:latin typeface="Arial"/>
              </a:rPr>
              <a:t>Knowledge</a:t>
            </a:r>
          </a:p>
        </p:txBody>
      </p:sp>
      <p:sp>
        <p:nvSpPr>
          <p:cNvPr id="7182" name="TextBox 7181"/>
          <p:cNvSpPr txBox="1"/>
          <p:nvPr/>
        </p:nvSpPr>
        <p:spPr>
          <a:xfrm>
            <a:off x="457200" y="2898648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 i="1">
                <a:solidFill>
                  <a:srgbClr val="5A5A5A"/>
                </a:solidFill>
                <a:latin typeface="Arial"/>
              </a:rPr>
              <a:t>six desks run concurrently · each holds read-only tools · a desk may ask one colleague a precise question</a:t>
            </a:r>
          </a:p>
        </p:txBody>
      </p:sp>
      <p:sp>
        <p:nvSpPr>
          <p:cNvPr id="7183" name="Rounded Rectangle 7182"/>
          <p:cNvSpPr/>
          <p:nvPr/>
        </p:nvSpPr>
        <p:spPr>
          <a:xfrm>
            <a:off x="457200" y="3200400"/>
            <a:ext cx="8229600" cy="457200"/>
          </a:xfrm>
          <a:prstGeom prst="roundRect">
            <a:avLst>
              <a:gd name="adj" fmla="val 8000"/>
            </a:avLst>
          </a:prstGeom>
          <a:solidFill>
            <a:srgbClr val="FBF2E2"/>
          </a:solidFill>
          <a:ln w="9525">
            <a:solidFill>
              <a:srgbClr val="EBD9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50" b="1">
                <a:solidFill>
                  <a:srgbClr val="1A1A1A"/>
                </a:solidFill>
                <a:latin typeface="Arial"/>
              </a:rPr>
              <a:t>Shared investigation state — every finding carries its tool-call id</a:t>
            </a:r>
          </a:p>
        </p:txBody>
      </p:sp>
      <p:sp>
        <p:nvSpPr>
          <p:cNvPr id="7184" name="Down Arrow 7183"/>
          <p:cNvSpPr/>
          <p:nvPr/>
        </p:nvSpPr>
        <p:spPr>
          <a:xfrm>
            <a:off x="4434840" y="3675887"/>
            <a:ext cx="182880" cy="237744"/>
          </a:xfrm>
          <a:prstGeom prst="downArrow">
            <a:avLst/>
          </a:prstGeom>
          <a:solidFill>
            <a:srgbClr val="9AA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85" name="Rounded Rectangle 7184"/>
          <p:cNvSpPr/>
          <p:nvPr/>
        </p:nvSpPr>
        <p:spPr>
          <a:xfrm>
            <a:off x="1417320" y="3959352"/>
            <a:ext cx="3017520" cy="54864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 w="9525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RCA agent — cause, failure point, confidence</a:t>
            </a:r>
          </a:p>
        </p:txBody>
      </p:sp>
      <p:sp>
        <p:nvSpPr>
          <p:cNvPr id="7186" name="Right Arrow 7185"/>
          <p:cNvSpPr/>
          <p:nvPr/>
        </p:nvSpPr>
        <p:spPr>
          <a:xfrm>
            <a:off x="4526280" y="4160520"/>
            <a:ext cx="274320" cy="146304"/>
          </a:xfrm>
          <a:prstGeom prst="rightArrow">
            <a:avLst/>
          </a:prstGeom>
          <a:solidFill>
            <a:srgbClr val="9AA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87" name="Rounded Rectangle 7186"/>
          <p:cNvSpPr/>
          <p:nvPr/>
        </p:nvSpPr>
        <p:spPr>
          <a:xfrm>
            <a:off x="4892040" y="3959352"/>
            <a:ext cx="2834640" cy="548640"/>
          </a:xfrm>
          <a:prstGeom prst="roundRect">
            <a:avLst>
              <a:gd name="adj" fmla="val 8000"/>
            </a:avLst>
          </a:prstGeom>
          <a:solidFill>
            <a:srgbClr val="2A6F52"/>
          </a:solidFill>
          <a:ln w="9525">
            <a:solidFill>
              <a:srgbClr val="2A6F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Engineer approves before any write</a:t>
            </a:r>
          </a:p>
        </p:txBody>
      </p:sp>
      <p:sp>
        <p:nvSpPr>
          <p:cNvPr id="7188" name="Oval 7187"/>
          <p:cNvSpPr/>
          <p:nvPr/>
        </p:nvSpPr>
        <p:spPr>
          <a:xfrm>
            <a:off x="457200" y="4754880"/>
            <a:ext cx="274320" cy="27432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189" name="TextBox 7188"/>
          <p:cNvSpPr txBox="1"/>
          <p:nvPr/>
        </p:nvSpPr>
        <p:spPr>
          <a:xfrm>
            <a:off x="786384" y="4773168"/>
            <a:ext cx="12801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1A1A1A"/>
                </a:solidFill>
                <a:latin typeface="Arial"/>
              </a:rPr>
              <a:t>Initialise</a:t>
            </a:r>
          </a:p>
        </p:txBody>
      </p:sp>
      <p:sp>
        <p:nvSpPr>
          <p:cNvPr id="7190" name="Oval 7189"/>
          <p:cNvSpPr/>
          <p:nvPr/>
        </p:nvSpPr>
        <p:spPr>
          <a:xfrm>
            <a:off x="2121408" y="4754880"/>
            <a:ext cx="274320" cy="27432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191" name="TextBox 7190"/>
          <p:cNvSpPr txBox="1"/>
          <p:nvPr/>
        </p:nvSpPr>
        <p:spPr>
          <a:xfrm>
            <a:off x="2450592" y="4773168"/>
            <a:ext cx="12801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1A1A1A"/>
                </a:solidFill>
                <a:latin typeface="Arial"/>
              </a:rPr>
              <a:t>Plan</a:t>
            </a:r>
          </a:p>
        </p:txBody>
      </p:sp>
      <p:sp>
        <p:nvSpPr>
          <p:cNvPr id="7192" name="Oval 7191"/>
          <p:cNvSpPr/>
          <p:nvPr/>
        </p:nvSpPr>
        <p:spPr>
          <a:xfrm>
            <a:off x="3785616" y="4754880"/>
            <a:ext cx="274320" cy="27432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7193" name="TextBox 7192"/>
          <p:cNvSpPr txBox="1"/>
          <p:nvPr/>
        </p:nvSpPr>
        <p:spPr>
          <a:xfrm>
            <a:off x="4114800" y="4773168"/>
            <a:ext cx="12801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1A1A1A"/>
                </a:solidFill>
                <a:latin typeface="Arial"/>
              </a:rPr>
              <a:t>Parallel evidence</a:t>
            </a:r>
          </a:p>
        </p:txBody>
      </p:sp>
      <p:sp>
        <p:nvSpPr>
          <p:cNvPr id="7194" name="Oval 7193"/>
          <p:cNvSpPr/>
          <p:nvPr/>
        </p:nvSpPr>
        <p:spPr>
          <a:xfrm>
            <a:off x="5449824" y="4754880"/>
            <a:ext cx="274320" cy="27432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7195" name="TextBox 7194"/>
          <p:cNvSpPr txBox="1"/>
          <p:nvPr/>
        </p:nvSpPr>
        <p:spPr>
          <a:xfrm>
            <a:off x="5779008" y="4773168"/>
            <a:ext cx="12801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1A1A1A"/>
                </a:solidFill>
                <a:latin typeface="Arial"/>
              </a:rPr>
              <a:t>Collaborative reasoning</a:t>
            </a:r>
          </a:p>
        </p:txBody>
      </p:sp>
      <p:sp>
        <p:nvSpPr>
          <p:cNvPr id="7196" name="Oval 7195"/>
          <p:cNvSpPr/>
          <p:nvPr/>
        </p:nvSpPr>
        <p:spPr>
          <a:xfrm>
            <a:off x="7114032" y="4754880"/>
            <a:ext cx="274320" cy="27432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7197" name="TextBox 7196"/>
          <p:cNvSpPr txBox="1"/>
          <p:nvPr/>
        </p:nvSpPr>
        <p:spPr>
          <a:xfrm>
            <a:off x="7443216" y="4773168"/>
            <a:ext cx="12801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1A1A1A"/>
                </a:solidFill>
                <a:latin typeface="Arial"/>
              </a:rPr>
              <a:t>Human validation</a:t>
            </a:r>
          </a:p>
        </p:txBody>
      </p:sp>
      <p:sp>
        <p:nvSpPr>
          <p:cNvPr id="7198" name="TextBox 7197"/>
          <p:cNvSpPr txBox="1"/>
          <p:nvPr/>
        </p:nvSpPr>
        <p:spPr>
          <a:xfrm>
            <a:off x="457200" y="525780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A5A5A"/>
                </a:solidFill>
                <a:latin typeface="Arial"/>
              </a:rPr>
              <a:t>Five phases of the proposed methodology; each desk runs a budgeted reason-act loop (8 tool calls, 300 s) and is forced to report its findings when a budget is reached.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2"/>
          <p:cNvSpPr txBox="1">
            <a:spLocks noChangeArrowheads="1"/>
          </p:cNvSpPr>
          <p:nvPr/>
        </p:nvSpPr>
        <p:spPr bwMode="auto">
          <a:xfrm>
            <a:off x="990600" y="274320"/>
            <a:ext cx="7239000" cy="8229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800" b="1" dirty="0">
                <a:latin typeface="Arial" pitchFamily="34" charset="0"/>
                <a:cs typeface="Arial" pitchFamily="34" charset="0"/>
              </a:rPr>
              <a:t>EXPERIMENTAL  ANALYSIS </a:t>
            </a:r>
          </a:p>
        </p:txBody>
      </p:sp>
      <p:sp>
        <p:nvSpPr>
          <p:cNvPr id="8195" name="Rounded Rectangle 8194"/>
          <p:cNvSpPr/>
          <p:nvPr/>
        </p:nvSpPr>
        <p:spPr>
          <a:xfrm>
            <a:off x="457200" y="1371600"/>
            <a:ext cx="4023360" cy="14173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endParaRPr/>
          </a:p>
        </p:txBody>
      </p:sp>
      <p:sp>
        <p:nvSpPr>
          <p:cNvPr id="8196" name="TextBox 8195"/>
          <p:cNvSpPr txBox="1"/>
          <p:nvPr/>
        </p:nvSpPr>
        <p:spPr>
          <a:xfrm>
            <a:off x="640080" y="1499616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F4E79"/>
                </a:solidFill>
                <a:latin typeface="Arial"/>
              </a:rPr>
              <a:t>Experiment 1 — Orchestration</a:t>
            </a:r>
          </a:p>
        </p:txBody>
      </p:sp>
      <p:sp>
        <p:nvSpPr>
          <p:cNvPr id="8197" name="TextBox 8196"/>
          <p:cNvSpPr txBox="1"/>
          <p:nvPr/>
        </p:nvSpPr>
        <p:spPr>
          <a:xfrm>
            <a:off x="640080" y="1792224"/>
            <a:ext cx="3657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A1A1A"/>
                </a:solidFill>
                <a:latin typeface="Arial"/>
              </a:rPr>
              <a:t>Does the supervisor coordinate desks and keep one consistent state?</a:t>
            </a:r>
          </a:p>
        </p:txBody>
      </p:sp>
      <p:sp>
        <p:nvSpPr>
          <p:cNvPr id="8198" name="TextBox 8197"/>
          <p:cNvSpPr txBox="1"/>
          <p:nvPr/>
        </p:nvSpPr>
        <p:spPr>
          <a:xfrm>
            <a:off x="640080" y="2304288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1">
                <a:solidFill>
                  <a:srgbClr val="5A5A5A"/>
                </a:solidFill>
                <a:latin typeface="Arial"/>
              </a:rPr>
              <a:t>Orchestration latency · state consistency · agent completion rate</a:t>
            </a:r>
          </a:p>
        </p:txBody>
      </p:sp>
      <p:sp>
        <p:nvSpPr>
          <p:cNvPr id="8199" name="Rounded Rectangle 8198"/>
          <p:cNvSpPr/>
          <p:nvPr/>
        </p:nvSpPr>
        <p:spPr>
          <a:xfrm>
            <a:off x="4663440" y="1371600"/>
            <a:ext cx="4023360" cy="14173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endParaRPr/>
          </a:p>
        </p:txBody>
      </p:sp>
      <p:sp>
        <p:nvSpPr>
          <p:cNvPr id="8200" name="TextBox 8199"/>
          <p:cNvSpPr txBox="1"/>
          <p:nvPr/>
        </p:nvSpPr>
        <p:spPr>
          <a:xfrm>
            <a:off x="4846320" y="1499616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F4E79"/>
                </a:solidFill>
                <a:latin typeface="Arial"/>
              </a:rPr>
              <a:t>Experiment 2 — Knowledge retrieval</a:t>
            </a:r>
          </a:p>
        </p:txBody>
      </p:sp>
      <p:sp>
        <p:nvSpPr>
          <p:cNvPr id="8201" name="TextBox 8200"/>
          <p:cNvSpPr txBox="1"/>
          <p:nvPr/>
        </p:nvSpPr>
        <p:spPr>
          <a:xfrm>
            <a:off x="4846320" y="1792224"/>
            <a:ext cx="3657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A1A1A"/>
                </a:solidFill>
                <a:latin typeface="Arial"/>
              </a:rPr>
              <a:t>How well does the Engineering Memory Layer retrieve runbooks and postmortems?</a:t>
            </a:r>
          </a:p>
        </p:txBody>
      </p:sp>
      <p:sp>
        <p:nvSpPr>
          <p:cNvPr id="8202" name="TextBox 8201"/>
          <p:cNvSpPr txBox="1"/>
          <p:nvPr/>
        </p:nvSpPr>
        <p:spPr>
          <a:xfrm>
            <a:off x="4846320" y="2304288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1">
                <a:solidFill>
                  <a:srgbClr val="5A5A5A"/>
                </a:solidFill>
                <a:latin typeface="Arial"/>
              </a:rPr>
              <a:t>MRR · Recall@K · Precision@K · response latency</a:t>
            </a:r>
          </a:p>
        </p:txBody>
      </p:sp>
      <p:sp>
        <p:nvSpPr>
          <p:cNvPr id="8203" name="Rounded Rectangle 8202"/>
          <p:cNvSpPr/>
          <p:nvPr/>
        </p:nvSpPr>
        <p:spPr>
          <a:xfrm>
            <a:off x="457200" y="2944368"/>
            <a:ext cx="4023360" cy="14173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endParaRPr/>
          </a:p>
        </p:txBody>
      </p:sp>
      <p:sp>
        <p:nvSpPr>
          <p:cNvPr id="8204" name="TextBox 8203"/>
          <p:cNvSpPr txBox="1"/>
          <p:nvPr/>
        </p:nvSpPr>
        <p:spPr>
          <a:xfrm>
            <a:off x="640080" y="3072384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F4E79"/>
                </a:solidFill>
                <a:latin typeface="Arial"/>
              </a:rPr>
              <a:t>Experiment 3 — Root-cause reasoning</a:t>
            </a:r>
          </a:p>
        </p:txBody>
      </p:sp>
      <p:sp>
        <p:nvSpPr>
          <p:cNvPr id="8205" name="TextBox 8204"/>
          <p:cNvSpPr txBox="1"/>
          <p:nvPr/>
        </p:nvSpPr>
        <p:spPr>
          <a:xfrm>
            <a:off x="640080" y="3364991"/>
            <a:ext cx="3657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A1A1A"/>
                </a:solidFill>
                <a:latin typeface="Arial"/>
              </a:rPr>
              <a:t>Do generated reports match expert analyses of the same incident?</a:t>
            </a:r>
          </a:p>
        </p:txBody>
      </p:sp>
      <p:sp>
        <p:nvSpPr>
          <p:cNvPr id="8206" name="TextBox 8205"/>
          <p:cNvSpPr txBox="1"/>
          <p:nvPr/>
        </p:nvSpPr>
        <p:spPr>
          <a:xfrm>
            <a:off x="640080" y="3877056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1">
                <a:solidFill>
                  <a:srgbClr val="5A5A5A"/>
                </a:solidFill>
                <a:latin typeface="Arial"/>
              </a:rPr>
              <a:t>Evidence use · completeness · explanation quality · confidence calibration</a:t>
            </a:r>
          </a:p>
        </p:txBody>
      </p:sp>
      <p:sp>
        <p:nvSpPr>
          <p:cNvPr id="8207" name="Rounded Rectangle 8206"/>
          <p:cNvSpPr/>
          <p:nvPr/>
        </p:nvSpPr>
        <p:spPr>
          <a:xfrm>
            <a:off x="4663440" y="2944368"/>
            <a:ext cx="4023360" cy="14173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endParaRPr/>
          </a:p>
        </p:txBody>
      </p:sp>
      <p:sp>
        <p:nvSpPr>
          <p:cNvPr id="8208" name="TextBox 8207"/>
          <p:cNvSpPr txBox="1"/>
          <p:nvPr/>
        </p:nvSpPr>
        <p:spPr>
          <a:xfrm>
            <a:off x="4846320" y="3072384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F4E79"/>
                </a:solidFill>
                <a:latin typeface="Arial"/>
              </a:rPr>
              <a:t>Experiment 4 — End-to-end workflow</a:t>
            </a:r>
          </a:p>
        </p:txBody>
      </p:sp>
      <p:sp>
        <p:nvSpPr>
          <p:cNvPr id="8209" name="TextBox 8208"/>
          <p:cNvSpPr txBox="1"/>
          <p:nvPr/>
        </p:nvSpPr>
        <p:spPr>
          <a:xfrm>
            <a:off x="4846320" y="3364991"/>
            <a:ext cx="3657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A1A1A"/>
                </a:solidFill>
                <a:latin typeface="Arial"/>
              </a:rPr>
              <a:t>Injected faults: API latency, slow query, failed deploy, broken content.</a:t>
            </a:r>
          </a:p>
        </p:txBody>
      </p:sp>
      <p:sp>
        <p:nvSpPr>
          <p:cNvPr id="8210" name="TextBox 8209"/>
          <p:cNvSpPr txBox="1"/>
          <p:nvPr/>
        </p:nvSpPr>
        <p:spPr>
          <a:xfrm>
            <a:off x="4846320" y="3877056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1">
                <a:solidFill>
                  <a:srgbClr val="5A5A5A"/>
                </a:solidFill>
                <a:latin typeface="Arial"/>
              </a:rPr>
              <a:t>Time to root cause · evidence completeness · unsupported-claim rate · usability</a:t>
            </a:r>
          </a:p>
        </p:txBody>
      </p:sp>
      <p:sp>
        <p:nvSpPr>
          <p:cNvPr id="8211" name="Rounded Rectangle 8210"/>
          <p:cNvSpPr/>
          <p:nvPr/>
        </p:nvSpPr>
        <p:spPr>
          <a:xfrm>
            <a:off x="457200" y="4553712"/>
            <a:ext cx="8229600" cy="1371600"/>
          </a:xfrm>
          <a:prstGeom prst="roundRect">
            <a:avLst>
              <a:gd name="adj" fmla="val 8000"/>
            </a:avLst>
          </a:prstGeom>
          <a:solidFill>
            <a:srgbClr val="143655"/>
          </a:solidFill>
          <a:ln w="9525">
            <a:solidFill>
              <a:srgbClr val="1436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endParaRPr/>
          </a:p>
        </p:txBody>
      </p:sp>
      <p:sp>
        <p:nvSpPr>
          <p:cNvPr id="8212" name="TextBox 8211"/>
          <p:cNvSpPr txBox="1"/>
          <p:nvPr/>
        </p:nvSpPr>
        <p:spPr>
          <a:xfrm>
            <a:off x="713232" y="4709160"/>
            <a:ext cx="77724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 i="0">
                <a:solidFill>
                  <a:srgbClr val="F0B45F"/>
                </a:solidFill>
                <a:latin typeface="Arial"/>
              </a:rPr>
              <a:t>Baselines:  </a:t>
            </a:r>
            <a:r>
              <a:rPr sz="1150" b="0" i="0">
                <a:solidFill>
                  <a:srgbClr val="FFFFFF"/>
                </a:solidFill>
                <a:latin typeface="Arial"/>
              </a:rPr>
              <a:t>single ReAct agent with the same tools · one-shot prompt with all context · the same architecture without compaction</a:t>
            </a:r>
          </a:p>
          <a:p>
            <a:pPr algn="l">
              <a:spcAft>
                <a:spcPts val="500"/>
              </a:spcAft>
            </a:pPr>
            <a:r>
              <a:rPr sz="1150" b="1" i="0">
                <a:solidFill>
                  <a:srgbClr val="F0B45F"/>
                </a:solidFill>
                <a:latin typeface="Arial"/>
              </a:rPr>
              <a:t>Datasets:  </a:t>
            </a:r>
            <a:r>
              <a:rPr sz="1150" b="0" i="0">
                <a:solidFill>
                  <a:srgbClr val="FFFFFF"/>
                </a:solidFill>
                <a:latin typeface="Arial"/>
              </a:rPr>
              <a:t>OpenRCA (ICLR 2025, 335 real failures) · AIOpsLab fault scenarios (MLSys 2025) · 20–30 faults injected into a live stack</a:t>
            </a:r>
          </a:p>
          <a:p>
            <a:pPr algn="l">
              <a:spcAft>
                <a:spcPts val="500"/>
              </a:spcAft>
            </a:pPr>
            <a:r>
              <a:rPr sz="1150" b="1" i="0">
                <a:solidFill>
                  <a:srgbClr val="F0B45F"/>
                </a:solidFill>
                <a:latin typeface="Arial"/>
              </a:rPr>
              <a:t>Ablations:  </a:t>
            </a:r>
            <a:r>
              <a:rPr sz="1150" b="0" i="0">
                <a:solidFill>
                  <a:srgbClr val="FFFFFF"/>
                </a:solidFill>
                <a:latin typeface="Arial"/>
              </a:rPr>
              <a:t>multi-agent vs single agent · with and without retrieval · with and without enforced citation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990600" y="274320"/>
            <a:ext cx="7239000" cy="8229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200" b="1" dirty="0">
                <a:latin typeface="Arial" pitchFamily="34" charset="0"/>
                <a:cs typeface="Arial" pitchFamily="34" charset="0"/>
              </a:rPr>
              <a:t>RESULTS &amp; DISCUSSION </a:t>
            </a:r>
          </a:p>
        </p:txBody>
      </p:sp>
      <p:graphicFrame>
        <p:nvGraphicFramePr>
          <p:cNvPr id="9219" name="Chart 9218"/>
          <p:cNvGraphicFramePr>
            <a:graphicFrameLocks noGrp="1"/>
          </p:cNvGraphicFramePr>
          <p:nvPr/>
        </p:nvGraphicFramePr>
        <p:xfrm>
          <a:off x="457200" y="1325880"/>
          <a:ext cx="3931920" cy="2788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220" name="Rounded Rectangle 9219"/>
          <p:cNvSpPr/>
          <p:nvPr/>
        </p:nvSpPr>
        <p:spPr>
          <a:xfrm>
            <a:off x="4617720" y="1371600"/>
            <a:ext cx="4069080" cy="84124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endParaRPr/>
          </a:p>
        </p:txBody>
      </p:sp>
      <p:sp>
        <p:nvSpPr>
          <p:cNvPr id="9221" name="TextBox 9220"/>
          <p:cNvSpPr txBox="1"/>
          <p:nvPr/>
        </p:nvSpPr>
        <p:spPr>
          <a:xfrm>
            <a:off x="4773168" y="1481328"/>
            <a:ext cx="1143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F4E79"/>
                </a:solidFill>
                <a:latin typeface="Arial"/>
              </a:rPr>
              <a:t>39%</a:t>
            </a:r>
          </a:p>
        </p:txBody>
      </p:sp>
      <p:sp>
        <p:nvSpPr>
          <p:cNvPr id="9222" name="TextBox 9221"/>
          <p:cNvSpPr txBox="1"/>
          <p:nvPr/>
        </p:nvSpPr>
        <p:spPr>
          <a:xfrm>
            <a:off x="4773168" y="1773936"/>
            <a:ext cx="374903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1A1A1A"/>
                </a:solidFill>
                <a:latin typeface="Arial"/>
              </a:rPr>
              <a:t>less input resent per desk — older tool output collapses to its opening while keeping its citation id</a:t>
            </a:r>
          </a:p>
        </p:txBody>
      </p:sp>
      <p:sp>
        <p:nvSpPr>
          <p:cNvPr id="9223" name="Rounded Rectangle 9222"/>
          <p:cNvSpPr/>
          <p:nvPr/>
        </p:nvSpPr>
        <p:spPr>
          <a:xfrm>
            <a:off x="4617720" y="2313432"/>
            <a:ext cx="4069080" cy="84124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endParaRPr/>
          </a:p>
        </p:txBody>
      </p:sp>
      <p:sp>
        <p:nvSpPr>
          <p:cNvPr id="9224" name="TextBox 9223"/>
          <p:cNvSpPr txBox="1"/>
          <p:nvPr/>
        </p:nvSpPr>
        <p:spPr>
          <a:xfrm>
            <a:off x="4773168" y="2423160"/>
            <a:ext cx="1143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F4E79"/>
                </a:solidFill>
                <a:latin typeface="Arial"/>
              </a:rPr>
              <a:t>Bounded</a:t>
            </a:r>
          </a:p>
        </p:txBody>
      </p:sp>
      <p:sp>
        <p:nvSpPr>
          <p:cNvPr id="9225" name="TextBox 9224"/>
          <p:cNvSpPr txBox="1"/>
          <p:nvPr/>
        </p:nvSpPr>
        <p:spPr>
          <a:xfrm>
            <a:off x="4773168" y="2715768"/>
            <a:ext cx="374903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1A1A1A"/>
                </a:solidFill>
                <a:latin typeface="Arial"/>
              </a:rPr>
              <a:t>context per step: each desk sees only its own tools; the RCA agent reads one-line evidence, never raw logs</a:t>
            </a:r>
          </a:p>
        </p:txBody>
      </p:sp>
      <p:sp>
        <p:nvSpPr>
          <p:cNvPr id="9226" name="Rounded Rectangle 9225"/>
          <p:cNvSpPr/>
          <p:nvPr/>
        </p:nvSpPr>
        <p:spPr>
          <a:xfrm>
            <a:off x="4617720" y="3255264"/>
            <a:ext cx="4069080" cy="84124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endParaRPr/>
          </a:p>
        </p:txBody>
      </p:sp>
      <p:sp>
        <p:nvSpPr>
          <p:cNvPr id="9227" name="TextBox 9226"/>
          <p:cNvSpPr txBox="1"/>
          <p:nvPr/>
        </p:nvSpPr>
        <p:spPr>
          <a:xfrm>
            <a:off x="4773168" y="3364992"/>
            <a:ext cx="1143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F4E79"/>
                </a:solidFill>
                <a:latin typeface="Arial"/>
              </a:rPr>
              <a:t>Parallel</a:t>
            </a:r>
          </a:p>
        </p:txBody>
      </p:sp>
      <p:sp>
        <p:nvSpPr>
          <p:cNvPr id="9228" name="TextBox 9227"/>
          <p:cNvSpPr txBox="1"/>
          <p:nvPr/>
        </p:nvSpPr>
        <p:spPr>
          <a:xfrm>
            <a:off x="4773168" y="3657600"/>
            <a:ext cx="374903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1A1A1A"/>
                </a:solidFill>
                <a:latin typeface="Arial"/>
              </a:rPr>
              <a:t>wall-clock follows the slowest desk rather than the sum of all desks</a:t>
            </a:r>
          </a:p>
        </p:txBody>
      </p:sp>
      <p:sp>
        <p:nvSpPr>
          <p:cNvPr id="9229" name="Rounded Rectangle 9228"/>
          <p:cNvSpPr/>
          <p:nvPr/>
        </p:nvSpPr>
        <p:spPr>
          <a:xfrm>
            <a:off x="457200" y="4224528"/>
            <a:ext cx="8229600" cy="65836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00" b="1">
                <a:solidFill>
                  <a:srgbClr val="1A1A1A"/>
                </a:solidFill>
                <a:latin typeface="Arial"/>
              </a:rPr>
              <a:t>Implemented: 9 agent roles · 3 live connectors (GitHub, Supabase, knowledge vault) · 229 automated tests · pilot investigation ≈ 7.7 min end to end</a:t>
            </a:r>
          </a:p>
        </p:txBody>
      </p:sp>
      <p:sp>
        <p:nvSpPr>
          <p:cNvPr id="9230" name="TextBox 9229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 i="0">
                <a:solidFill>
                  <a:srgbClr val="1F4E79"/>
                </a:solidFill>
                <a:latin typeface="Arial"/>
              </a:rPr>
              <a:t>Discussion:  </a:t>
            </a:r>
            <a:r>
              <a:rPr sz="1150" b="0" i="0">
                <a:solidFill>
                  <a:srgbClr val="1A1A1A"/>
                </a:solidFill>
                <a:latin typeface="Arial"/>
              </a:rPr>
              <a:t>the architecture behaves as designed — desks work concurrently, every finding carries a verifiable citation, and compaction cuts resent context measurably.</a:t>
            </a:r>
          </a:p>
          <a:p>
            <a:pPr algn="l">
              <a:spcAft>
                <a:spcPts val="500"/>
              </a:spcAft>
            </a:pPr>
            <a:r>
              <a:rPr sz="1150" b="1" i="0">
                <a:solidFill>
                  <a:srgbClr val="B3261E"/>
                </a:solidFill>
                <a:latin typeface="Arial"/>
              </a:rPr>
              <a:t>Threat to validity:  </a:t>
            </a:r>
            <a:r>
              <a:rPr sz="1150" b="0" i="0">
                <a:solidFill>
                  <a:srgbClr val="1A1A1A"/>
                </a:solidFill>
                <a:latin typeface="Arial"/>
              </a:rPr>
              <a:t>this is a position paper with a working prototype; the pilot timing is an engineering observation, not an evaluation result. Large-scale measurement is future work.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2"/>
          <p:cNvSpPr txBox="1">
            <a:spLocks noChangeArrowheads="1"/>
          </p:cNvSpPr>
          <p:nvPr/>
        </p:nvSpPr>
        <p:spPr bwMode="auto">
          <a:xfrm>
            <a:off x="1143000" y="274320"/>
            <a:ext cx="7086600" cy="8229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600" b="1" dirty="0">
                <a:latin typeface="Arial" pitchFamily="34" charset="0"/>
                <a:cs typeface="Arial" pitchFamily="34" charset="0"/>
              </a:rPr>
              <a:t>CONCLUSION</a:t>
            </a:r>
          </a:p>
        </p:txBody>
      </p:sp>
      <p:sp>
        <p:nvSpPr>
          <p:cNvPr id="10243" name="Rounded Rectangle 10242"/>
          <p:cNvSpPr/>
          <p:nvPr/>
        </p:nvSpPr>
        <p:spPr>
          <a:xfrm>
            <a:off x="457200" y="1371600"/>
            <a:ext cx="8229600" cy="10058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endParaRPr/>
          </a:p>
        </p:txBody>
      </p:sp>
      <p:sp>
        <p:nvSpPr>
          <p:cNvPr id="10244" name="Oval 10243"/>
          <p:cNvSpPr/>
          <p:nvPr/>
        </p:nvSpPr>
        <p:spPr>
          <a:xfrm>
            <a:off x="685800" y="1645920"/>
            <a:ext cx="329184" cy="329184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245" name="TextBox 10244"/>
          <p:cNvSpPr txBox="1"/>
          <p:nvPr/>
        </p:nvSpPr>
        <p:spPr>
          <a:xfrm>
            <a:off x="1161288" y="1517904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F4E79"/>
                </a:solidFill>
                <a:latin typeface="Arial"/>
              </a:rPr>
              <a:t>A coordination protocol, not a bigger model</a:t>
            </a:r>
          </a:p>
        </p:txBody>
      </p:sp>
      <p:sp>
        <p:nvSpPr>
          <p:cNvPr id="10246" name="TextBox 10245"/>
          <p:cNvSpPr txBox="1"/>
          <p:nvPr/>
        </p:nvSpPr>
        <p:spPr>
          <a:xfrm>
            <a:off x="1161288" y="1828800"/>
            <a:ext cx="7315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1A1A1A"/>
                </a:solidFill>
                <a:latin typeface="Arial"/>
              </a:rPr>
              <a:t>A supervisor plans, specialised desks investigate the team's own tools in parallel, and one shared state carries every finding with its tool-call citation.</a:t>
            </a:r>
          </a:p>
        </p:txBody>
      </p:sp>
      <p:sp>
        <p:nvSpPr>
          <p:cNvPr id="10247" name="Rounded Rectangle 10246"/>
          <p:cNvSpPr/>
          <p:nvPr/>
        </p:nvSpPr>
        <p:spPr>
          <a:xfrm>
            <a:off x="457200" y="2487168"/>
            <a:ext cx="8229600" cy="10058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endParaRPr/>
          </a:p>
        </p:txBody>
      </p:sp>
      <p:sp>
        <p:nvSpPr>
          <p:cNvPr id="10248" name="Oval 10247"/>
          <p:cNvSpPr/>
          <p:nvPr/>
        </p:nvSpPr>
        <p:spPr>
          <a:xfrm>
            <a:off x="685800" y="2761487"/>
            <a:ext cx="329184" cy="329184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249" name="TextBox 10248"/>
          <p:cNvSpPr txBox="1"/>
          <p:nvPr/>
        </p:nvSpPr>
        <p:spPr>
          <a:xfrm>
            <a:off x="1161288" y="2633472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F4E79"/>
                </a:solidFill>
                <a:latin typeface="Arial"/>
              </a:rPr>
              <a:t>Trust comes from the harness</a:t>
            </a:r>
          </a:p>
        </p:txBody>
      </p:sp>
      <p:sp>
        <p:nvSpPr>
          <p:cNvPr id="10250" name="TextBox 10249"/>
          <p:cNvSpPr txBox="1"/>
          <p:nvPr/>
        </p:nvSpPr>
        <p:spPr>
          <a:xfrm>
            <a:off x="1161288" y="2944368"/>
            <a:ext cx="7315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1A1A1A"/>
                </a:solidFill>
                <a:latin typeface="Arial"/>
              </a:rPr>
              <a:t>Uncited findings are rejected, investigating desks are read-only, budgets bound every loop, and confidence is capped by code — not by the model's own claim.</a:t>
            </a:r>
          </a:p>
        </p:txBody>
      </p:sp>
      <p:sp>
        <p:nvSpPr>
          <p:cNvPr id="10251" name="Rounded Rectangle 10250"/>
          <p:cNvSpPr/>
          <p:nvPr/>
        </p:nvSpPr>
        <p:spPr>
          <a:xfrm>
            <a:off x="457200" y="3602736"/>
            <a:ext cx="8229600" cy="10058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endParaRPr/>
          </a:p>
        </p:txBody>
      </p:sp>
      <p:sp>
        <p:nvSpPr>
          <p:cNvPr id="10252" name="Oval 10251"/>
          <p:cNvSpPr/>
          <p:nvPr/>
        </p:nvSpPr>
        <p:spPr>
          <a:xfrm>
            <a:off x="685800" y="3877056"/>
            <a:ext cx="329184" cy="329184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0253" name="TextBox 10252"/>
          <p:cNvSpPr txBox="1"/>
          <p:nvPr/>
        </p:nvSpPr>
        <p:spPr>
          <a:xfrm>
            <a:off x="1161288" y="3749039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F4E79"/>
                </a:solidFill>
                <a:latin typeface="Arial"/>
              </a:rPr>
              <a:t>Decision support is the right target today</a:t>
            </a:r>
          </a:p>
        </p:txBody>
      </p:sp>
      <p:sp>
        <p:nvSpPr>
          <p:cNvPr id="10254" name="TextBox 10253"/>
          <p:cNvSpPr txBox="1"/>
          <p:nvPr/>
        </p:nvSpPr>
        <p:spPr>
          <a:xfrm>
            <a:off x="1161288" y="4059935"/>
            <a:ext cx="7315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1A1A1A"/>
                </a:solidFill>
                <a:latin typeface="Arial"/>
              </a:rPr>
              <a:t>Published agents resolve only 11–15% of real scenarios autonomously, so EOPS keeps the engineer in the approval seat.</a:t>
            </a:r>
          </a:p>
        </p:txBody>
      </p:sp>
      <p:sp>
        <p:nvSpPr>
          <p:cNvPr id="10255" name="Rounded Rectangle 10254"/>
          <p:cNvSpPr/>
          <p:nvPr/>
        </p:nvSpPr>
        <p:spPr>
          <a:xfrm>
            <a:off x="457200" y="4718304"/>
            <a:ext cx="8229600" cy="10058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endParaRPr/>
          </a:p>
        </p:txBody>
      </p:sp>
      <p:sp>
        <p:nvSpPr>
          <p:cNvPr id="10256" name="Oval 10255"/>
          <p:cNvSpPr/>
          <p:nvPr/>
        </p:nvSpPr>
        <p:spPr>
          <a:xfrm>
            <a:off x="685800" y="4992624"/>
            <a:ext cx="329184" cy="329184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0257" name="TextBox 10256"/>
          <p:cNvSpPr txBox="1"/>
          <p:nvPr/>
        </p:nvSpPr>
        <p:spPr>
          <a:xfrm>
            <a:off x="1161288" y="4864608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F4E79"/>
                </a:solidFill>
                <a:latin typeface="Arial"/>
              </a:rPr>
              <a:t>Future work</a:t>
            </a:r>
          </a:p>
        </p:txBody>
      </p:sp>
      <p:sp>
        <p:nvSpPr>
          <p:cNvPr id="10258" name="TextBox 10257"/>
          <p:cNvSpPr txBox="1"/>
          <p:nvPr/>
        </p:nvSpPr>
        <p:spPr>
          <a:xfrm>
            <a:off x="1161288" y="5175504"/>
            <a:ext cx="7315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1A1A1A"/>
                </a:solidFill>
                <a:latin typeface="Arial"/>
              </a:rPr>
              <a:t>Measurement on OpenRCA and injected faults, graph-augmented retrieval over code–service–document relations, and learning from accepted versus rejected recommendations.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2"/>
          <p:cNvSpPr txBox="1">
            <a:spLocks noChangeArrowheads="1"/>
          </p:cNvSpPr>
          <p:nvPr/>
        </p:nvSpPr>
        <p:spPr bwMode="auto">
          <a:xfrm>
            <a:off x="1143000" y="274320"/>
            <a:ext cx="7086600" cy="8229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 b="1" dirty="0">
                <a:latin typeface="Arial" pitchFamily="34" charset="0"/>
                <a:cs typeface="Arial" pitchFamily="34" charset="0"/>
              </a:rPr>
              <a:t>REFERENCES</a:t>
            </a:r>
          </a:p>
        </p:txBody>
      </p:sp>
      <p:sp>
        <p:nvSpPr>
          <p:cNvPr id="18435" name="TextBox 18434"/>
          <p:cNvSpPr txBox="1"/>
          <p:nvPr/>
        </p:nvSpPr>
        <p:spPr>
          <a:xfrm>
            <a:off x="457200" y="1371600"/>
            <a:ext cx="4023360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950" b="0" i="0">
                <a:solidFill>
                  <a:srgbClr val="1A1A1A"/>
                </a:solidFill>
                <a:latin typeface="Arial"/>
              </a:rPr>
              <a:t>[1] A. Vaswani et al., "Attention is all you need," in Proc. NeurIPS, 2017.</a:t>
            </a:r>
          </a:p>
          <a:p>
            <a:pPr algn="l">
              <a:spcAft>
                <a:spcPts val="900"/>
              </a:spcAft>
            </a:pPr>
            <a:r>
              <a:rPr sz="950" b="0" i="0">
                <a:solidFill>
                  <a:srgbClr val="1A1A1A"/>
                </a:solidFill>
                <a:latin typeface="Arial"/>
              </a:rPr>
              <a:t>[2] P. Lewis et al., "Retrieval-augmented generation for knowledge-intensive NLP tasks," in Proc. NeurIPS, 2020.</a:t>
            </a:r>
          </a:p>
          <a:p>
            <a:pPr algn="l">
              <a:spcAft>
                <a:spcPts val="900"/>
              </a:spcAft>
            </a:pPr>
            <a:r>
              <a:rPr sz="950" b="0" i="0">
                <a:solidFill>
                  <a:srgbClr val="1A1A1A"/>
                </a:solidFill>
                <a:latin typeface="Arial"/>
              </a:rPr>
              <a:t>[3] S. Yao et al., "ReAct: Synergizing reasoning and acting in language models," in Proc. ICLR, 2023.</a:t>
            </a:r>
          </a:p>
          <a:p>
            <a:pPr algn="l">
              <a:spcAft>
                <a:spcPts val="900"/>
              </a:spcAft>
            </a:pPr>
            <a:r>
              <a:rPr sz="950" b="0" i="0">
                <a:solidFill>
                  <a:srgbClr val="1A1A1A"/>
                </a:solidFill>
                <a:latin typeface="Arial"/>
              </a:rPr>
              <a:t>[4] Q. Wu et al., "AutoGen: Enabling next-gen LLM applications via multi-agent conversation," in Proc. COLM, 2024.</a:t>
            </a:r>
          </a:p>
          <a:p>
            <a:pPr algn="l">
              <a:spcAft>
                <a:spcPts val="900"/>
              </a:spcAft>
            </a:pPr>
            <a:r>
              <a:rPr sz="950" b="0" i="0">
                <a:solidFill>
                  <a:srgbClr val="1A1A1A"/>
                </a:solidFill>
                <a:latin typeface="Arial"/>
              </a:rPr>
              <a:t>[5] J. Yang et al., "SWE-agent: Agent-computer interfaces enable automated software engineering," in Proc. NeurIPS, 2024.</a:t>
            </a:r>
          </a:p>
          <a:p>
            <a:pPr algn="l">
              <a:spcAft>
                <a:spcPts val="900"/>
              </a:spcAft>
            </a:pPr>
            <a:r>
              <a:rPr sz="950" b="0" i="0">
                <a:solidFill>
                  <a:srgbClr val="1A1A1A"/>
                </a:solidFill>
                <a:latin typeface="Arial"/>
              </a:rPr>
              <a:t>[6] C. E. Jimenez et al., "SWE-bench: Can language models resolve real-world GitHub issues?," in Proc. ICLR, 2024.</a:t>
            </a:r>
          </a:p>
          <a:p>
            <a:pPr algn="l">
              <a:spcAft>
                <a:spcPts val="900"/>
              </a:spcAft>
            </a:pPr>
            <a:r>
              <a:rPr sz="950" b="0" i="0">
                <a:solidFill>
                  <a:srgbClr val="1A1A1A"/>
                </a:solidFill>
                <a:latin typeface="Arial"/>
              </a:rPr>
              <a:t>[7] T. Ahmed et al., "Recommending root-cause and mitigation steps for cloud incidents using large language models," in Proc. ICSE, 2023.</a:t>
            </a:r>
          </a:p>
        </p:txBody>
      </p:sp>
      <p:sp>
        <p:nvSpPr>
          <p:cNvPr id="18436" name="TextBox 18435"/>
          <p:cNvSpPr txBox="1"/>
          <p:nvPr/>
        </p:nvSpPr>
        <p:spPr>
          <a:xfrm>
            <a:off x="4681728" y="1371600"/>
            <a:ext cx="4023360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950" b="0" i="0">
                <a:solidFill>
                  <a:srgbClr val="1A1A1A"/>
                </a:solidFill>
                <a:latin typeface="Arial"/>
              </a:rPr>
              <a:t>[8] Y. Chen et al., "Automatic root cause analysis via large language models for cloud incidents," in Proc. EuroSys, 2024.</a:t>
            </a:r>
          </a:p>
          <a:p>
            <a:pPr algn="l">
              <a:spcAft>
                <a:spcPts val="900"/>
              </a:spcAft>
            </a:pPr>
            <a:r>
              <a:rPr sz="950" b="0" i="0">
                <a:solidFill>
                  <a:srgbClr val="1A1A1A"/>
                </a:solidFill>
                <a:latin typeface="Arial"/>
              </a:rPr>
              <a:t>[9] D. Roy et al., "Exploring LLM-based agents for root cause analysis," in Proc. FSE (Industry), 2024.</a:t>
            </a:r>
          </a:p>
          <a:p>
            <a:pPr algn="l">
              <a:spcAft>
                <a:spcPts val="900"/>
              </a:spcAft>
            </a:pPr>
            <a:r>
              <a:rPr sz="950" b="0" i="0">
                <a:solidFill>
                  <a:srgbClr val="1A1A1A"/>
                </a:solidFill>
                <a:latin typeface="Arial"/>
              </a:rPr>
              <a:t>[10] "OpenRCA: Can large language models locate the root cause of software failures?," in Proc. ICLR, 2025.</a:t>
            </a:r>
          </a:p>
          <a:p>
            <a:pPr algn="l">
              <a:spcAft>
                <a:spcPts val="900"/>
              </a:spcAft>
            </a:pPr>
            <a:r>
              <a:rPr sz="950" b="0" i="0">
                <a:solidFill>
                  <a:srgbClr val="1A1A1A"/>
                </a:solidFill>
                <a:latin typeface="Arial"/>
              </a:rPr>
              <a:t>[11] "AIOpsLab: A holistic framework to evaluate AI agents for enabling autonomous clouds," in Proc. MLSys, 2025.</a:t>
            </a:r>
          </a:p>
          <a:p>
            <a:pPr algn="l">
              <a:spcAft>
                <a:spcPts val="900"/>
              </a:spcAft>
            </a:pPr>
            <a:r>
              <a:rPr sz="950" b="0" i="0">
                <a:solidFill>
                  <a:srgbClr val="1A1A1A"/>
                </a:solidFill>
                <a:latin typeface="Arial"/>
              </a:rPr>
              <a:t>[12] "ITBench: Evaluating AI agents across diverse real-world IT automation tasks," in Proc. ICML, 2025.</a:t>
            </a:r>
          </a:p>
          <a:p>
            <a:pPr algn="l">
              <a:spcAft>
                <a:spcPts val="900"/>
              </a:spcAft>
            </a:pPr>
            <a:r>
              <a:rPr sz="950" b="0" i="0">
                <a:solidFill>
                  <a:srgbClr val="1A1A1A"/>
                </a:solidFill>
                <a:latin typeface="Arial"/>
              </a:rPr>
              <a:t>[13] Y. Gao et al., "Retrieval-augmented generation for large language models: A survey," arXiv:2312.10997, 2023.</a:t>
            </a:r>
          </a:p>
          <a:p>
            <a:pPr algn="l">
              <a:spcAft>
                <a:spcPts val="900"/>
              </a:spcAft>
            </a:pPr>
            <a:r>
              <a:rPr sz="950" b="0" i="0">
                <a:solidFill>
                  <a:srgbClr val="1A1A1A"/>
                </a:solidFill>
                <a:latin typeface="Arial"/>
              </a:rPr>
              <a:t>[14] LangChain AI, "LangGraph," 2024; Chroma, "Chroma embedding database," 2024.</a:t>
            </a:r>
          </a:p>
        </p:txBody>
      </p:sp>
      <p:sp>
        <p:nvSpPr>
          <p:cNvPr id="18437" name="TextBox 18436"/>
          <p:cNvSpPr txBox="1"/>
          <p:nvPr/>
        </p:nvSpPr>
        <p:spPr>
          <a:xfrm>
            <a:off x="457200" y="5577840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1">
                <a:solidFill>
                  <a:srgbClr val="5A5A5A"/>
                </a:solidFill>
                <a:latin typeface="Arial"/>
              </a:rPr>
              <a:t>References [8]–[12] situate EOPS against the current state of the art in LLM-based root cause analysis.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4DEEC-FC82-0E8D-D134-BBCB4BD1D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Results and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66863F-4001-28C5-25AC-9B9FC675EF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255305-A257-858A-80A0-92947473CA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63027"/>
            <a:ext cx="8229600" cy="4131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1043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551</TotalTime>
  <Words>1341</Words>
  <Application>Microsoft Office PowerPoint</Application>
  <PresentationFormat>On-screen Show (4:3)</PresentationFormat>
  <Paragraphs>131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EOPS: A Multi-Agent AI Engineering Operations Platform for Automated Incident Investigation and Root Cause Analysis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Results and output</vt:lpstr>
    </vt:vector>
  </TitlesOfParts>
  <Company>karpagam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SANJAY PC</cp:lastModifiedBy>
  <cp:revision>89</cp:revision>
  <dcterms:created xsi:type="dcterms:W3CDTF">2005-12-31T23:41:04Z</dcterms:created>
  <dcterms:modified xsi:type="dcterms:W3CDTF">2026-10-11T04:38:37Z</dcterms:modified>
</cp:coreProperties>
</file>